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not on the team. Read the line out loud, then move on. Twenty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Nathalie is the host in our story. Do not read the three paragraphs out loud, just land the last sentence: the money stops in the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Show the real thing running if you can. Point at the reply: the whole interface for the host is one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nothing calls out to a cloud. Say it plainly: if the connection drops, the hub keeps taking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us from the other teams. Most will hand the whole message to a model. Say the quote out loud and let it sit for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Pick two numbers: a tenth of a millisecond, and eight cents a booking. The rest is there for the judges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scores this criterion explicitly and most teams will skip it. Do not apologise for any of these. Each one is a choice,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not on thanks. Name the tourism office out loud if you have one by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A17"/>
        </a:solidFill>
      </p:bgPr>
    </p:bg>
    <p:spTree>
      <p:nvGrpSpPr>
        <p:cNvPr id="1" name=""/>
        <p:cNvGrpSpPr/>
        <p:nvPr/>
      </p:nvGrpSpPr>
      <p:grpSpPr>
        <a:xfrm>
          <a:off x="0" y="0"/>
          <a:ext cx="0" cy="0"/>
          <a:chOff x="0" y="0"/>
          <a:chExt cx="0" cy="0"/>
        </a:xfrm>
      </p:grpSpPr>
      <p:sp>
        <p:nvSpPr>
          <p:cNvPr id="2" name="Text 0"/>
          <p:cNvSpPr txBox="1"/>
          <p:nvPr/>
        </p:nvSpPr>
        <p:spPr>
          <a:xfrm>
            <a:off x="594360" y="1691640"/>
            <a:ext cx="11000232" cy="274320"/>
          </a:xfrm>
          <a:prstGeom prst="rect">
            <a:avLst/>
          </a:prstGeom>
          <a:noFill/>
          <a:ln/>
        </p:spPr>
        <p:txBody>
          <a:bodyPr wrap="square" lIns="0" tIns="0" rIns="0" bIns="0" rtlCol="0" anchor="ctr"/>
          <a:lstStyle/>
          <a:p>
            <a:pPr indent="0" marL="0">
              <a:buNone/>
            </a:pPr>
            <a:r>
              <a:rPr lang="en-US" sz="1200" b="1" spc="200" kern="0" dirty="0">
                <a:solidFill>
                  <a:srgbClr val="8FBFAF"/>
                </a:solidFill>
                <a:latin typeface="Calibri" pitchFamily="34" charset="0"/>
                <a:ea typeface="Calibri" pitchFamily="34" charset="-122"/>
                <a:cs typeface="Calibri" pitchFamily="34" charset="-120"/>
              </a:rPr>
              <a:t>WORLD BANK SMALL AI FOR DEVELOPMENT   ·   TOURISM</a:t>
            </a:r>
            <a:endParaRPr lang="en-US" sz="1200" dirty="0"/>
          </a:p>
        </p:txBody>
      </p:sp>
      <p:sp>
        <p:nvSpPr>
          <p:cNvPr id="3" name="Text 1"/>
          <p:cNvSpPr txBox="1"/>
          <p:nvPr/>
        </p:nvSpPr>
        <p:spPr>
          <a:xfrm>
            <a:off x="594360" y="2011680"/>
            <a:ext cx="11000232" cy="128016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Karibu</a:t>
            </a:r>
            <a:endParaRPr lang="en-US" sz="7200" dirty="0"/>
          </a:p>
        </p:txBody>
      </p:sp>
      <p:sp>
        <p:nvSpPr>
          <p:cNvPr id="4" name="Text 2"/>
          <p:cNvSpPr txBox="1"/>
          <p:nvPr/>
        </p:nvSpPr>
        <p:spPr>
          <a:xfrm>
            <a:off x="594360" y="3383280"/>
            <a:ext cx="8778240" cy="1188720"/>
          </a:xfrm>
          <a:prstGeom prst="rect">
            <a:avLst/>
          </a:prstGeom>
          <a:noFill/>
          <a:ln/>
        </p:spPr>
        <p:txBody>
          <a:bodyPr wrap="square" lIns="0" tIns="0" rIns="0" bIns="0" rtlCol="0" anchor="ctr"/>
          <a:lstStyle/>
          <a:p>
            <a:pPr indent="0" marL="0">
              <a:lnSpc>
                <a:spcPts val="3000"/>
              </a:lnSpc>
              <a:buNone/>
            </a:pPr>
            <a:r>
              <a:rPr lang="en-US" sz="2000" dirty="0">
                <a:solidFill>
                  <a:srgbClr val="EDE7DC"/>
                </a:solidFill>
                <a:latin typeface="Calibri" pitchFamily="34" charset="0"/>
                <a:ea typeface="Calibri" pitchFamily="34" charset="-122"/>
                <a:cs typeface="Calibri" pitchFamily="34" charset="-120"/>
              </a:rPr>
              <a:t>A guesthouse owner with a basic phone takes a booking from a Korean visitor, in French, for the price of one text message.</a:t>
            </a:r>
            <a:endParaRPr lang="en-US" sz="2000" dirty="0"/>
          </a:p>
        </p:txBody>
      </p:sp>
      <p:sp>
        <p:nvSpPr>
          <p:cNvPr id="5" name="Text 3"/>
          <p:cNvSpPr txBox="1"/>
          <p:nvPr/>
        </p:nvSpPr>
        <p:spPr>
          <a:xfrm>
            <a:off x="594360" y="6035040"/>
            <a:ext cx="11000232" cy="274320"/>
          </a:xfrm>
          <a:prstGeom prst="rect">
            <a:avLst/>
          </a:prstGeom>
          <a:noFill/>
          <a:ln/>
        </p:spPr>
        <p:txBody>
          <a:bodyPr wrap="square" lIns="0" tIns="0" rIns="0" bIns="0" rtlCol="0" anchor="ctr"/>
          <a:lstStyle/>
          <a:p>
            <a:pPr indent="0" marL="0">
              <a:buNone/>
            </a:pPr>
            <a:r>
              <a:rPr lang="en-US" sz="1100" dirty="0">
                <a:solidFill>
                  <a:srgbClr val="B9B2A6"/>
                </a:solidFill>
                <a:latin typeface="Calibri" pitchFamily="34" charset="0"/>
                <a:ea typeface="Calibri" pitchFamily="34" charset="-122"/>
                <a:cs typeface="Calibri" pitchFamily="34" charset="-120"/>
              </a:rPr>
              <a:t>Team LeKontinent   ·   3 and 4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57200"/>
            <a:ext cx="11000232" cy="1234440"/>
          </a:xfrm>
          <a:prstGeom prst="rect">
            <a:avLst/>
          </a:prstGeom>
          <a:noFill/>
          <a:ln/>
        </p:spPr>
        <p:txBody>
          <a:bodyPr wrap="square" lIns="0" tIns="0" rIns="0" bIns="0" rtlCol="0" anchor="t"/>
          <a:lstStyle/>
          <a:p>
            <a:pPr indent="0" marL="0">
              <a:lnSpc>
                <a:spcPts val="3800"/>
              </a:lnSpc>
              <a:buNone/>
            </a:pPr>
            <a:r>
              <a:rPr lang="en-US" sz="3200" b="1" dirty="0">
                <a:solidFill>
                  <a:srgbClr val="1C1A17"/>
                </a:solidFill>
                <a:latin typeface="Cambria" pitchFamily="34" charset="0"/>
                <a:ea typeface="Cambria" pitchFamily="34" charset="-122"/>
                <a:cs typeface="Cambria" pitchFamily="34" charset="-120"/>
              </a:rPr>
              <a:t>The people who receive visitors do not exist online</a:t>
            </a:r>
            <a:endParaRPr lang="en-US" sz="3200" dirty="0"/>
          </a:p>
        </p:txBody>
      </p:sp>
      <p:sp>
        <p:nvSpPr>
          <p:cNvPr id="3" name="Text 1"/>
          <p:cNvSpPr txBox="1"/>
          <p:nvPr/>
        </p:nvSpPr>
        <p:spPr>
          <a:xfrm>
            <a:off x="594360" y="1874520"/>
            <a:ext cx="5943600" cy="1097280"/>
          </a:xfrm>
          <a:prstGeom prst="rect">
            <a:avLst/>
          </a:prstGeom>
          <a:noFill/>
          <a:ln/>
        </p:spPr>
        <p:txBody>
          <a:bodyPr wrap="square" lIns="0" tIns="0" rIns="0" bIns="0" rtlCol="0" anchor="ctr"/>
          <a:lstStyle/>
          <a:p>
            <a:pPr indent="0" marL="0">
              <a:lnSpc>
                <a:spcPts val="2300"/>
              </a:lnSpc>
              <a:buNone/>
            </a:pPr>
            <a:r>
              <a:rPr lang="en-US" sz="1500" dirty="0">
                <a:solidFill>
                  <a:srgbClr val="3D3832"/>
                </a:solidFill>
                <a:latin typeface="Calibri" pitchFamily="34" charset="0"/>
                <a:ea typeface="Calibri" pitchFamily="34" charset="-122"/>
                <a:cs typeface="Calibri" pitchFamily="34" charset="-120"/>
              </a:rPr>
              <a:t>Around parks, waterfalls and heritage sites, the guesthouses and guides who actually host people have no website and no way to be booked.</a:t>
            </a:r>
            <a:endParaRPr lang="en-US" sz="1500" dirty="0"/>
          </a:p>
        </p:txBody>
      </p:sp>
      <p:sp>
        <p:nvSpPr>
          <p:cNvPr id="4" name="Text 2"/>
          <p:cNvSpPr txBox="1"/>
          <p:nvPr/>
        </p:nvSpPr>
        <p:spPr>
          <a:xfrm>
            <a:off x="594360" y="3108960"/>
            <a:ext cx="5943600" cy="1097280"/>
          </a:xfrm>
          <a:prstGeom prst="rect">
            <a:avLst/>
          </a:prstGeom>
          <a:noFill/>
          <a:ln/>
        </p:spPr>
        <p:txBody>
          <a:bodyPr wrap="square" lIns="0" tIns="0" rIns="0" bIns="0" rtlCol="0" anchor="ctr"/>
          <a:lstStyle/>
          <a:p>
            <a:pPr indent="0" marL="0">
              <a:lnSpc>
                <a:spcPts val="2300"/>
              </a:lnSpc>
              <a:buNone/>
            </a:pPr>
            <a:r>
              <a:rPr lang="en-US" sz="1500" dirty="0">
                <a:solidFill>
                  <a:srgbClr val="3D3832"/>
                </a:solidFill>
                <a:latin typeface="Calibri" pitchFamily="34" charset="0"/>
                <a:ea typeface="Calibri" pitchFamily="34" charset="-122"/>
                <a:cs typeface="Calibri" pitchFamily="34" charset="-120"/>
              </a:rPr>
              <a:t>Every booking platform assumes a smartphone, a steady connection and a bank card. Most hosts have none of the three.</a:t>
            </a:r>
            <a:endParaRPr lang="en-US" sz="1500" dirty="0"/>
          </a:p>
        </p:txBody>
      </p:sp>
      <p:sp>
        <p:nvSpPr>
          <p:cNvPr id="5" name="Text 3"/>
          <p:cNvSpPr txBox="1"/>
          <p:nvPr/>
        </p:nvSpPr>
        <p:spPr>
          <a:xfrm>
            <a:off x="594360" y="4343400"/>
            <a:ext cx="5943600" cy="1097280"/>
          </a:xfrm>
          <a:prstGeom prst="rect">
            <a:avLst/>
          </a:prstGeom>
          <a:noFill/>
          <a:ln/>
        </p:spPr>
        <p:txBody>
          <a:bodyPr wrap="square" lIns="0" tIns="0" rIns="0" bIns="0" rtlCol="0" anchor="ctr"/>
          <a:lstStyle/>
          <a:p>
            <a:pPr indent="0" marL="0">
              <a:lnSpc>
                <a:spcPts val="2300"/>
              </a:lnSpc>
              <a:buNone/>
            </a:pPr>
            <a:r>
              <a:rPr lang="en-US" sz="1500" dirty="0">
                <a:solidFill>
                  <a:srgbClr val="3D3832"/>
                </a:solidFill>
                <a:latin typeface="Calibri" pitchFamily="34" charset="0"/>
                <a:ea typeface="Calibri" pitchFamily="34" charset="-122"/>
                <a:cs typeface="Calibri" pitchFamily="34" charset="-120"/>
              </a:rPr>
              <a:t>So the money stops with agents in the capital, and the tourism office has no idea what happens on its own ground.</a:t>
            </a:r>
            <a:endParaRPr lang="en-US" sz="1500" dirty="0"/>
          </a:p>
        </p:txBody>
      </p:sp>
      <p:sp>
        <p:nvSpPr>
          <p:cNvPr id="6" name="Shape 4"/>
          <p:cNvSpPr/>
          <p:nvPr/>
        </p:nvSpPr>
        <p:spPr>
          <a:xfrm>
            <a:off x="6995160" y="1828800"/>
            <a:ext cx="4599432" cy="3611880"/>
          </a:xfrm>
          <a:prstGeom prst="roundRect">
            <a:avLst>
              <a:gd name="adj" fmla="val 3038"/>
            </a:avLst>
          </a:prstGeom>
          <a:solidFill>
            <a:srgbClr val="F7FAF9"/>
          </a:solidFill>
          <a:ln w="12700">
            <a:solidFill>
              <a:srgbClr val="DFD9CE"/>
            </a:solidFill>
            <a:prstDash val="solid"/>
          </a:ln>
        </p:spPr>
      </p:sp>
      <p:sp>
        <p:nvSpPr>
          <p:cNvPr id="7" name="Text 5"/>
          <p:cNvSpPr txBox="1"/>
          <p:nvPr/>
        </p:nvSpPr>
        <p:spPr>
          <a:xfrm>
            <a:off x="7360920" y="2148840"/>
            <a:ext cx="3840480" cy="274320"/>
          </a:xfrm>
          <a:prstGeom prst="rect">
            <a:avLst/>
          </a:prstGeom>
          <a:noFill/>
          <a:ln/>
        </p:spPr>
        <p:txBody>
          <a:bodyPr wrap="square" lIns="0" tIns="0" rIns="0" bIns="0" rtlCol="0" anchor="ctr"/>
          <a:lstStyle/>
          <a:p>
            <a:pPr indent="0" marL="0">
              <a:buNone/>
            </a:pPr>
            <a:r>
              <a:rPr lang="en-US" sz="1100" b="1" spc="200" kern="0" dirty="0">
                <a:solidFill>
                  <a:srgbClr val="A06A12"/>
                </a:solidFill>
                <a:latin typeface="Calibri" pitchFamily="34" charset="0"/>
                <a:ea typeface="Calibri" pitchFamily="34" charset="-122"/>
                <a:cs typeface="Calibri" pitchFamily="34" charset="-120"/>
              </a:rPr>
              <a:t>WHO WE BUILT IT FOR</a:t>
            </a:r>
            <a:endParaRPr lang="en-US" sz="1100" dirty="0"/>
          </a:p>
        </p:txBody>
      </p:sp>
      <p:sp>
        <p:nvSpPr>
          <p:cNvPr id="8" name="Text 6"/>
          <p:cNvSpPr txBox="1"/>
          <p:nvPr/>
        </p:nvSpPr>
        <p:spPr>
          <a:xfrm>
            <a:off x="7360920" y="2514600"/>
            <a:ext cx="3886200" cy="1188720"/>
          </a:xfrm>
          <a:prstGeom prst="rect">
            <a:avLst/>
          </a:prstGeom>
          <a:noFill/>
          <a:ln/>
        </p:spPr>
        <p:txBody>
          <a:bodyPr wrap="square" lIns="0" tIns="0" rIns="0" bIns="0" rtlCol="0" anchor="ctr"/>
          <a:lstStyle/>
          <a:p>
            <a:pPr indent="0" marL="0">
              <a:lnSpc>
                <a:spcPts val="2800"/>
              </a:lnSpc>
              <a:buNone/>
            </a:pPr>
            <a:r>
              <a:rPr lang="en-US" sz="2100" b="1" dirty="0">
                <a:solidFill>
                  <a:srgbClr val="1C1A17"/>
                </a:solidFill>
                <a:latin typeface="Cambria" pitchFamily="34" charset="0"/>
                <a:ea typeface="Cambria" pitchFamily="34" charset="-122"/>
                <a:cs typeface="Cambria" pitchFamily="34" charset="-120"/>
              </a:rPr>
              <a:t>Nathalie rents two rooms in Bafang, near the Metché falls.</a:t>
            </a:r>
            <a:endParaRPr lang="en-US" sz="2100" dirty="0"/>
          </a:p>
        </p:txBody>
      </p:sp>
      <p:sp>
        <p:nvSpPr>
          <p:cNvPr id="9" name="Text 7"/>
          <p:cNvSpPr txBox="1"/>
          <p:nvPr/>
        </p:nvSpPr>
        <p:spPr>
          <a:xfrm>
            <a:off x="7360920" y="3749040"/>
            <a:ext cx="3886200" cy="1463040"/>
          </a:xfrm>
          <a:prstGeom prst="rect">
            <a:avLst/>
          </a:prstGeom>
          <a:noFill/>
          <a:ln/>
        </p:spPr>
        <p:txBody>
          <a:bodyPr wrap="square" lIns="0" tIns="0" rIns="0" bIns="0" rtlCol="0" anchor="ctr"/>
          <a:lstStyle/>
          <a:p>
            <a:pPr indent="0" marL="0">
              <a:lnSpc>
                <a:spcPts val="2200"/>
              </a:lnSpc>
              <a:buNone/>
            </a:pPr>
            <a:r>
              <a:rPr lang="en-US" sz="1400" dirty="0">
                <a:solidFill>
                  <a:srgbClr val="6B6459"/>
                </a:solidFill>
                <a:latin typeface="Calibri" pitchFamily="34" charset="0"/>
                <a:ea typeface="Calibri" pitchFamily="34" charset="-122"/>
                <a:cs typeface="Calibri" pitchFamily="34" charset="-120"/>
              </a:rPr>
              <a:t>She has a phone with buttons. She reads a little. Visitors walk past her door on the way to the falls and she has no way to reach them.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57200"/>
            <a:ext cx="11000232" cy="1234440"/>
          </a:xfrm>
          <a:prstGeom prst="rect">
            <a:avLst/>
          </a:prstGeom>
          <a:noFill/>
          <a:ln/>
        </p:spPr>
        <p:txBody>
          <a:bodyPr wrap="square" lIns="0" tIns="0" rIns="0" bIns="0" rtlCol="0" anchor="t"/>
          <a:lstStyle/>
          <a:p>
            <a:pPr indent="0" marL="0">
              <a:lnSpc>
                <a:spcPts val="3800"/>
              </a:lnSpc>
              <a:buNone/>
            </a:pPr>
            <a:r>
              <a:rPr lang="en-US" sz="3200" b="1" dirty="0">
                <a:solidFill>
                  <a:srgbClr val="1C1A17"/>
                </a:solidFill>
                <a:latin typeface="Cambria" pitchFamily="34" charset="0"/>
                <a:ea typeface="Cambria" pitchFamily="34" charset="-122"/>
                <a:cs typeface="Cambria" pitchFamily="34" charset="-120"/>
              </a:rPr>
              <a:t>One booking, four messages</a:t>
            </a:r>
            <a:endParaRPr lang="en-US" sz="3200" dirty="0"/>
          </a:p>
        </p:txBody>
      </p:sp>
      <p:sp>
        <p:nvSpPr>
          <p:cNvPr id="3" name="Text 1"/>
          <p:cNvSpPr txBox="1"/>
          <p:nvPr/>
        </p:nvSpPr>
        <p:spPr>
          <a:xfrm>
            <a:off x="594360" y="1837944"/>
            <a:ext cx="1920240" cy="274320"/>
          </a:xfrm>
          <a:prstGeom prst="rect">
            <a:avLst/>
          </a:prstGeom>
          <a:noFill/>
          <a:ln/>
        </p:spPr>
        <p:txBody>
          <a:bodyPr wrap="square" lIns="0" tIns="0" rIns="0" bIns="0" rtlCol="0" anchor="ctr"/>
          <a:lstStyle/>
          <a:p>
            <a:pPr indent="0" marL="0">
              <a:buNone/>
            </a:pPr>
            <a:r>
              <a:rPr lang="en-US" sz="1400" b="1" dirty="0">
                <a:solidFill>
                  <a:srgbClr val="1C1A17"/>
                </a:solidFill>
                <a:latin typeface="Calibri" pitchFamily="34" charset="0"/>
                <a:ea typeface="Calibri" pitchFamily="34" charset="-122"/>
                <a:cs typeface="Calibri" pitchFamily="34" charset="-120"/>
              </a:rPr>
              <a:t>Visitor</a:t>
            </a:r>
            <a:endParaRPr lang="en-US" sz="1400" dirty="0"/>
          </a:p>
        </p:txBody>
      </p:sp>
      <p:sp>
        <p:nvSpPr>
          <p:cNvPr id="4" name="Text 2"/>
          <p:cNvSpPr txBox="1"/>
          <p:nvPr/>
        </p:nvSpPr>
        <p:spPr>
          <a:xfrm>
            <a:off x="594360" y="2112264"/>
            <a:ext cx="1920240" cy="274320"/>
          </a:xfrm>
          <a:prstGeom prst="rect">
            <a:avLst/>
          </a:prstGeom>
          <a:noFill/>
          <a:ln/>
        </p:spPr>
        <p:txBody>
          <a:bodyPr wrap="square" lIns="0" tIns="0" rIns="0" bIns="0" rtlCol="0" anchor="ctr"/>
          <a:lstStyle/>
          <a:p>
            <a:pPr indent="0" marL="0">
              <a:buNone/>
            </a:pPr>
            <a:r>
              <a:rPr lang="en-US" sz="1200" dirty="0">
                <a:solidFill>
                  <a:srgbClr val="6B6459"/>
                </a:solidFill>
                <a:latin typeface="Calibri" pitchFamily="34" charset="0"/>
                <a:ea typeface="Calibri" pitchFamily="34" charset="-122"/>
                <a:cs typeface="Calibri" pitchFamily="34" charset="-120"/>
              </a:rPr>
              <a:t>web page, Korean</a:t>
            </a:r>
            <a:endParaRPr lang="en-US" sz="1200" dirty="0"/>
          </a:p>
        </p:txBody>
      </p:sp>
      <p:sp>
        <p:nvSpPr>
          <p:cNvPr id="5" name="Shape 3"/>
          <p:cNvSpPr/>
          <p:nvPr/>
        </p:nvSpPr>
        <p:spPr>
          <a:xfrm>
            <a:off x="2697480" y="1691640"/>
            <a:ext cx="8897112" cy="868680"/>
          </a:xfrm>
          <a:prstGeom prst="roundRect">
            <a:avLst>
              <a:gd name="adj" fmla="val 10526"/>
            </a:avLst>
          </a:prstGeom>
          <a:solidFill>
            <a:srgbClr val="FFFFFF"/>
          </a:solidFill>
          <a:ln w="12700">
            <a:solidFill>
              <a:srgbClr val="DFD9CE"/>
            </a:solidFill>
            <a:prstDash val="solid"/>
          </a:ln>
        </p:spPr>
      </p:sp>
      <p:sp>
        <p:nvSpPr>
          <p:cNvPr id="6" name="Text 4"/>
          <p:cNvSpPr txBox="1"/>
          <p:nvPr/>
        </p:nvSpPr>
        <p:spPr>
          <a:xfrm>
            <a:off x="2926080" y="1810512"/>
            <a:ext cx="8458200" cy="630936"/>
          </a:xfrm>
          <a:prstGeom prst="rect">
            <a:avLst/>
          </a:prstGeom>
          <a:noFill/>
          <a:ln/>
        </p:spPr>
        <p:txBody>
          <a:bodyPr wrap="square" lIns="0" tIns="0" rIns="0" bIns="0" rtlCol="0" anchor="ctr"/>
          <a:lstStyle/>
          <a:p>
            <a:pPr indent="0" marL="0">
              <a:lnSpc>
                <a:spcPts val="2100"/>
              </a:lnSpc>
              <a:buNone/>
            </a:pPr>
            <a:r>
              <a:rPr lang="en-US" sz="1400" dirty="0">
                <a:solidFill>
                  <a:srgbClr val="1C1A17"/>
                </a:solidFill>
                <a:latin typeface="Calibri" pitchFamily="34" charset="0"/>
                <a:ea typeface="Calibri" pitchFamily="34" charset="-122"/>
                <a:cs typeface="Calibri" pitchFamily="34" charset="-120"/>
              </a:rPr>
              <a:t>10월 12일부터 2박, 2명 가능한가요? 아침 식사 포함인가요?</a:t>
            </a:r>
            <a:endParaRPr lang="en-US" sz="1400" dirty="0"/>
          </a:p>
        </p:txBody>
      </p:sp>
      <p:sp>
        <p:nvSpPr>
          <p:cNvPr id="7" name="Text 5"/>
          <p:cNvSpPr txBox="1"/>
          <p:nvPr/>
        </p:nvSpPr>
        <p:spPr>
          <a:xfrm>
            <a:off x="594360" y="2907792"/>
            <a:ext cx="1920240" cy="274320"/>
          </a:xfrm>
          <a:prstGeom prst="rect">
            <a:avLst/>
          </a:prstGeom>
          <a:noFill/>
          <a:ln/>
        </p:spPr>
        <p:txBody>
          <a:bodyPr wrap="square" lIns="0" tIns="0" rIns="0" bIns="0" rtlCol="0" anchor="ctr"/>
          <a:lstStyle/>
          <a:p>
            <a:pPr indent="0" marL="0">
              <a:buNone/>
            </a:pPr>
            <a:r>
              <a:rPr lang="en-US" sz="1400" b="1" dirty="0">
                <a:solidFill>
                  <a:srgbClr val="1C1A17"/>
                </a:solidFill>
                <a:latin typeface="Calibri" pitchFamily="34" charset="0"/>
                <a:ea typeface="Calibri" pitchFamily="34" charset="-122"/>
                <a:cs typeface="Calibri" pitchFamily="34" charset="-120"/>
              </a:rPr>
              <a:t>Host</a:t>
            </a:r>
            <a:endParaRPr lang="en-US" sz="1400" dirty="0"/>
          </a:p>
        </p:txBody>
      </p:sp>
      <p:sp>
        <p:nvSpPr>
          <p:cNvPr id="8" name="Text 6"/>
          <p:cNvSpPr txBox="1"/>
          <p:nvPr/>
        </p:nvSpPr>
        <p:spPr>
          <a:xfrm>
            <a:off x="594360" y="3182112"/>
            <a:ext cx="1920240" cy="274320"/>
          </a:xfrm>
          <a:prstGeom prst="rect">
            <a:avLst/>
          </a:prstGeom>
          <a:noFill/>
          <a:ln/>
        </p:spPr>
        <p:txBody>
          <a:bodyPr wrap="square" lIns="0" tIns="0" rIns="0" bIns="0" rtlCol="0" anchor="ctr"/>
          <a:lstStyle/>
          <a:p>
            <a:pPr indent="0" marL="0">
              <a:buNone/>
            </a:pPr>
            <a:r>
              <a:rPr lang="en-US" sz="1200" dirty="0">
                <a:solidFill>
                  <a:srgbClr val="6B6459"/>
                </a:solidFill>
                <a:latin typeface="Calibri" pitchFamily="34" charset="0"/>
                <a:ea typeface="Calibri" pitchFamily="34" charset="-122"/>
                <a:cs typeface="Calibri" pitchFamily="34" charset="-120"/>
              </a:rPr>
              <a:t>SMS, French</a:t>
            </a:r>
            <a:endParaRPr lang="en-US" sz="1200" dirty="0"/>
          </a:p>
        </p:txBody>
      </p:sp>
      <p:sp>
        <p:nvSpPr>
          <p:cNvPr id="9" name="Shape 7"/>
          <p:cNvSpPr/>
          <p:nvPr/>
        </p:nvSpPr>
        <p:spPr>
          <a:xfrm>
            <a:off x="2697480" y="2761488"/>
            <a:ext cx="8897112" cy="868680"/>
          </a:xfrm>
          <a:prstGeom prst="roundRect">
            <a:avLst>
              <a:gd name="adj" fmla="val 10526"/>
            </a:avLst>
          </a:prstGeom>
          <a:solidFill>
            <a:srgbClr val="E8F2EE"/>
          </a:solidFill>
          <a:ln w="12700">
            <a:solidFill>
              <a:srgbClr val="E8F2EE"/>
            </a:solidFill>
            <a:prstDash val="solid"/>
          </a:ln>
        </p:spPr>
      </p:sp>
      <p:sp>
        <p:nvSpPr>
          <p:cNvPr id="10" name="Text 8"/>
          <p:cNvSpPr txBox="1"/>
          <p:nvPr/>
        </p:nvSpPr>
        <p:spPr>
          <a:xfrm>
            <a:off x="2926080" y="2880360"/>
            <a:ext cx="8458200" cy="630936"/>
          </a:xfrm>
          <a:prstGeom prst="rect">
            <a:avLst/>
          </a:prstGeom>
          <a:noFill/>
          <a:ln/>
        </p:spPr>
        <p:txBody>
          <a:bodyPr wrap="square" lIns="0" tIns="0" rIns="0" bIns="0" rtlCol="0" anchor="ctr"/>
          <a:lstStyle/>
          <a:p>
            <a:pPr indent="0" marL="0">
              <a:lnSpc>
                <a:spcPts val="2100"/>
              </a:lnSpc>
              <a:buNone/>
            </a:pPr>
            <a:r>
              <a:rPr lang="en-US" sz="1400" dirty="0">
                <a:solidFill>
                  <a:srgbClr val="13453A"/>
                </a:solidFill>
                <a:latin typeface="Calibri" pitchFamily="34" charset="0"/>
                <a:ea typeface="Calibri" pitchFamily="34" charset="-122"/>
                <a:cs typeface="Calibri" pitchFamily="34" charset="-120"/>
              </a:rPr>
              <a:t>Karibu: demande 2n 12-14 oct, 2 pers +petit dej. Total 16000 FCFA. Repondre 1=OUI 2=NON 3=AUTRE DATE</a:t>
            </a:r>
            <a:endParaRPr lang="en-US" sz="1400" dirty="0"/>
          </a:p>
        </p:txBody>
      </p:sp>
      <p:sp>
        <p:nvSpPr>
          <p:cNvPr id="11" name="Text 9"/>
          <p:cNvSpPr txBox="1"/>
          <p:nvPr/>
        </p:nvSpPr>
        <p:spPr>
          <a:xfrm>
            <a:off x="594360" y="3977640"/>
            <a:ext cx="1920240" cy="274320"/>
          </a:xfrm>
          <a:prstGeom prst="rect">
            <a:avLst/>
          </a:prstGeom>
          <a:noFill/>
          <a:ln/>
        </p:spPr>
        <p:txBody>
          <a:bodyPr wrap="square" lIns="0" tIns="0" rIns="0" bIns="0" rtlCol="0" anchor="ctr"/>
          <a:lstStyle/>
          <a:p>
            <a:pPr indent="0" marL="0">
              <a:buNone/>
            </a:pPr>
            <a:r>
              <a:rPr lang="en-US" sz="1400" b="1" dirty="0">
                <a:solidFill>
                  <a:srgbClr val="1C1A17"/>
                </a:solidFill>
                <a:latin typeface="Calibri" pitchFamily="34" charset="0"/>
                <a:ea typeface="Calibri" pitchFamily="34" charset="-122"/>
                <a:cs typeface="Calibri" pitchFamily="34" charset="-120"/>
              </a:rPr>
              <a:t>Host replies</a:t>
            </a:r>
            <a:endParaRPr lang="en-US" sz="1400" dirty="0"/>
          </a:p>
        </p:txBody>
      </p:sp>
      <p:sp>
        <p:nvSpPr>
          <p:cNvPr id="12" name="Text 10"/>
          <p:cNvSpPr txBox="1"/>
          <p:nvPr/>
        </p:nvSpPr>
        <p:spPr>
          <a:xfrm>
            <a:off x="594360" y="4251960"/>
            <a:ext cx="1920240" cy="274320"/>
          </a:xfrm>
          <a:prstGeom prst="rect">
            <a:avLst/>
          </a:prstGeom>
          <a:noFill/>
          <a:ln/>
        </p:spPr>
        <p:txBody>
          <a:bodyPr wrap="square" lIns="0" tIns="0" rIns="0" bIns="0" rtlCol="0" anchor="ctr"/>
          <a:lstStyle/>
          <a:p>
            <a:pPr indent="0" marL="0">
              <a:buNone/>
            </a:pPr>
            <a:r>
              <a:rPr lang="en-US" sz="1200" dirty="0">
                <a:solidFill>
                  <a:srgbClr val="6B6459"/>
                </a:solidFill>
                <a:latin typeface="Calibri" pitchFamily="34" charset="0"/>
                <a:ea typeface="Calibri" pitchFamily="34" charset="-122"/>
                <a:cs typeface="Calibri" pitchFamily="34" charset="-120"/>
              </a:rPr>
              <a:t>one character</a:t>
            </a:r>
            <a:endParaRPr lang="en-US" sz="1200" dirty="0"/>
          </a:p>
        </p:txBody>
      </p:sp>
      <p:sp>
        <p:nvSpPr>
          <p:cNvPr id="13" name="Shape 11"/>
          <p:cNvSpPr/>
          <p:nvPr/>
        </p:nvSpPr>
        <p:spPr>
          <a:xfrm>
            <a:off x="2697480" y="3831336"/>
            <a:ext cx="8897112" cy="868680"/>
          </a:xfrm>
          <a:prstGeom prst="roundRect">
            <a:avLst>
              <a:gd name="adj" fmla="val 10526"/>
            </a:avLst>
          </a:prstGeom>
          <a:solidFill>
            <a:srgbClr val="1F6F5C"/>
          </a:solidFill>
          <a:ln w="12700">
            <a:solidFill>
              <a:srgbClr val="1F6F5C"/>
            </a:solidFill>
            <a:prstDash val="solid"/>
          </a:ln>
        </p:spPr>
      </p:sp>
      <p:sp>
        <p:nvSpPr>
          <p:cNvPr id="14" name="Text 12"/>
          <p:cNvSpPr txBox="1"/>
          <p:nvPr/>
        </p:nvSpPr>
        <p:spPr>
          <a:xfrm>
            <a:off x="2926080" y="3950208"/>
            <a:ext cx="8458200" cy="630936"/>
          </a:xfrm>
          <a:prstGeom prst="rect">
            <a:avLst/>
          </a:prstGeom>
          <a:noFill/>
          <a:ln/>
        </p:spPr>
        <p:txBody>
          <a:bodyPr wrap="square" lIns="0" tIns="0" rIns="0" bIns="0" rtlCol="0" anchor="ctr"/>
          <a:lstStyle/>
          <a:p>
            <a:pPr indent="0" marL="0">
              <a:lnSpc>
                <a:spcPts val="2100"/>
              </a:lnSpc>
              <a:buNone/>
            </a:pPr>
            <a:r>
              <a:rPr lang="en-US" sz="1400" dirty="0">
                <a:solidFill>
                  <a:srgbClr val="FFFFFF"/>
                </a:solidFill>
                <a:latin typeface="Calibri" pitchFamily="34" charset="0"/>
                <a:ea typeface="Calibri" pitchFamily="34" charset="-122"/>
                <a:cs typeface="Calibri" pitchFamily="34" charset="-120"/>
              </a:rPr>
              <a:t>1</a:t>
            </a:r>
            <a:endParaRPr lang="en-US" sz="1400" dirty="0"/>
          </a:p>
        </p:txBody>
      </p:sp>
      <p:sp>
        <p:nvSpPr>
          <p:cNvPr id="15" name="Text 13"/>
          <p:cNvSpPr txBox="1"/>
          <p:nvPr/>
        </p:nvSpPr>
        <p:spPr>
          <a:xfrm>
            <a:off x="594360" y="5047488"/>
            <a:ext cx="1920240" cy="274320"/>
          </a:xfrm>
          <a:prstGeom prst="rect">
            <a:avLst/>
          </a:prstGeom>
          <a:noFill/>
          <a:ln/>
        </p:spPr>
        <p:txBody>
          <a:bodyPr wrap="square" lIns="0" tIns="0" rIns="0" bIns="0" rtlCol="0" anchor="ctr"/>
          <a:lstStyle/>
          <a:p>
            <a:pPr indent="0" marL="0">
              <a:buNone/>
            </a:pPr>
            <a:r>
              <a:rPr lang="en-US" sz="1400" b="1" dirty="0">
                <a:solidFill>
                  <a:srgbClr val="1C1A17"/>
                </a:solidFill>
                <a:latin typeface="Calibri" pitchFamily="34" charset="0"/>
                <a:ea typeface="Calibri" pitchFamily="34" charset="-122"/>
                <a:cs typeface="Calibri" pitchFamily="34" charset="-120"/>
              </a:rPr>
              <a:t>Visitor</a:t>
            </a:r>
            <a:endParaRPr lang="en-US" sz="1400" dirty="0"/>
          </a:p>
        </p:txBody>
      </p:sp>
      <p:sp>
        <p:nvSpPr>
          <p:cNvPr id="16" name="Text 14"/>
          <p:cNvSpPr txBox="1"/>
          <p:nvPr/>
        </p:nvSpPr>
        <p:spPr>
          <a:xfrm>
            <a:off x="594360" y="5321808"/>
            <a:ext cx="1920240" cy="274320"/>
          </a:xfrm>
          <a:prstGeom prst="rect">
            <a:avLst/>
          </a:prstGeom>
          <a:noFill/>
          <a:ln/>
        </p:spPr>
        <p:txBody>
          <a:bodyPr wrap="square" lIns="0" tIns="0" rIns="0" bIns="0" rtlCol="0" anchor="ctr"/>
          <a:lstStyle/>
          <a:p>
            <a:pPr indent="0" marL="0">
              <a:buNone/>
            </a:pPr>
            <a:r>
              <a:rPr lang="en-US" sz="1200" dirty="0">
                <a:solidFill>
                  <a:srgbClr val="6B6459"/>
                </a:solidFill>
                <a:latin typeface="Calibri" pitchFamily="34" charset="0"/>
                <a:ea typeface="Calibri" pitchFamily="34" charset="-122"/>
                <a:cs typeface="Calibri" pitchFamily="34" charset="-120"/>
              </a:rPr>
              <a:t>web page, Korean</a:t>
            </a:r>
            <a:endParaRPr lang="en-US" sz="1200" dirty="0"/>
          </a:p>
        </p:txBody>
      </p:sp>
      <p:sp>
        <p:nvSpPr>
          <p:cNvPr id="17" name="Shape 15"/>
          <p:cNvSpPr/>
          <p:nvPr/>
        </p:nvSpPr>
        <p:spPr>
          <a:xfrm>
            <a:off x="2697480" y="4901184"/>
            <a:ext cx="8897112" cy="868680"/>
          </a:xfrm>
          <a:prstGeom prst="roundRect">
            <a:avLst>
              <a:gd name="adj" fmla="val 10526"/>
            </a:avLst>
          </a:prstGeom>
          <a:solidFill>
            <a:srgbClr val="FFFFFF"/>
          </a:solidFill>
          <a:ln w="12700">
            <a:solidFill>
              <a:srgbClr val="DFD9CE"/>
            </a:solidFill>
            <a:prstDash val="solid"/>
          </a:ln>
        </p:spPr>
      </p:sp>
      <p:sp>
        <p:nvSpPr>
          <p:cNvPr id="18" name="Text 16"/>
          <p:cNvSpPr txBox="1"/>
          <p:nvPr/>
        </p:nvSpPr>
        <p:spPr>
          <a:xfrm>
            <a:off x="2926080" y="5020056"/>
            <a:ext cx="8458200" cy="630936"/>
          </a:xfrm>
          <a:prstGeom prst="rect">
            <a:avLst/>
          </a:prstGeom>
          <a:noFill/>
          <a:ln/>
        </p:spPr>
        <p:txBody>
          <a:bodyPr wrap="square" lIns="0" tIns="0" rIns="0" bIns="0" rtlCol="0" anchor="ctr"/>
          <a:lstStyle/>
          <a:p>
            <a:pPr indent="0" marL="0">
              <a:lnSpc>
                <a:spcPts val="2100"/>
              </a:lnSpc>
              <a:buNone/>
            </a:pPr>
            <a:r>
              <a:rPr lang="en-US" sz="1400" dirty="0">
                <a:solidFill>
                  <a:srgbClr val="1C1A17"/>
                </a:solidFill>
                <a:latin typeface="Calibri" pitchFamily="34" charset="0"/>
                <a:ea typeface="Calibri" pitchFamily="34" charset="-122"/>
                <a:cs typeface="Calibri" pitchFamily="34" charset="-120"/>
              </a:rPr>
              <a:t>확정되었습니다. 10월 12일-14일, 2명, 조식 포함, 16000 FCFA. 예약번호 59UG.</a:t>
            </a:r>
            <a:endParaRPr lang="en-US" sz="1400" dirty="0"/>
          </a:p>
        </p:txBody>
      </p:sp>
      <p:sp>
        <p:nvSpPr>
          <p:cNvPr id="19" name="Text 17"/>
          <p:cNvSpPr txBox="1"/>
          <p:nvPr/>
        </p:nvSpPr>
        <p:spPr>
          <a:xfrm>
            <a:off x="594360" y="6035040"/>
            <a:ext cx="11000232" cy="274320"/>
          </a:xfrm>
          <a:prstGeom prst="rect">
            <a:avLst/>
          </a:prstGeom>
          <a:noFill/>
          <a:ln/>
        </p:spPr>
        <p:txBody>
          <a:bodyPr wrap="square" lIns="0" tIns="0" rIns="0" bIns="0" rtlCol="0" anchor="ctr"/>
          <a:lstStyle/>
          <a:p>
            <a:pPr indent="0" marL="0">
              <a:buNone/>
            </a:pPr>
            <a:r>
              <a:rPr lang="en-US" sz="1200" dirty="0">
                <a:solidFill>
                  <a:srgbClr val="6B6459"/>
                </a:solidFill>
                <a:latin typeface="Calibri" pitchFamily="34" charset="0"/>
                <a:ea typeface="Calibri" pitchFamily="34" charset="-122"/>
                <a:cs typeface="Calibri" pitchFamily="34" charset="-120"/>
              </a:rPr>
              <a:t>106 characters. One SMS segment. No app, no smartphone, no bank card.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57200"/>
            <a:ext cx="11000232" cy="1234440"/>
          </a:xfrm>
          <a:prstGeom prst="rect">
            <a:avLst/>
          </a:prstGeom>
          <a:noFill/>
          <a:ln/>
        </p:spPr>
        <p:txBody>
          <a:bodyPr wrap="square" lIns="0" tIns="0" rIns="0" bIns="0" rtlCol="0" anchor="t"/>
          <a:lstStyle/>
          <a:p>
            <a:pPr indent="0" marL="0">
              <a:lnSpc>
                <a:spcPts val="3800"/>
              </a:lnSpc>
              <a:buNone/>
            </a:pPr>
            <a:r>
              <a:rPr lang="en-US" sz="3200" b="1" dirty="0">
                <a:solidFill>
                  <a:srgbClr val="1C1A17"/>
                </a:solidFill>
                <a:latin typeface="Cambria" pitchFamily="34" charset="0"/>
                <a:ea typeface="Cambria" pitchFamily="34" charset="-122"/>
                <a:cs typeface="Cambria" pitchFamily="34" charset="-120"/>
              </a:rPr>
              <a:t>Everything runs on one machine in the tourism office</a:t>
            </a:r>
            <a:endParaRPr lang="en-US" sz="3200" dirty="0"/>
          </a:p>
        </p:txBody>
      </p:sp>
      <p:sp>
        <p:nvSpPr>
          <p:cNvPr id="3" name="Shape 1"/>
          <p:cNvSpPr/>
          <p:nvPr/>
        </p:nvSpPr>
        <p:spPr>
          <a:xfrm>
            <a:off x="594360" y="1965960"/>
            <a:ext cx="3328416" cy="2011680"/>
          </a:xfrm>
          <a:prstGeom prst="roundRect">
            <a:avLst>
              <a:gd name="adj" fmla="val 5455"/>
            </a:avLst>
          </a:prstGeom>
          <a:solidFill>
            <a:srgbClr val="FFFFFF"/>
          </a:solidFill>
          <a:ln w="12700">
            <a:solidFill>
              <a:srgbClr val="DFD9CE"/>
            </a:solidFill>
            <a:prstDash val="solid"/>
          </a:ln>
        </p:spPr>
      </p:sp>
      <p:sp>
        <p:nvSpPr>
          <p:cNvPr id="4" name="Text 2"/>
          <p:cNvSpPr txBox="1"/>
          <p:nvPr/>
        </p:nvSpPr>
        <p:spPr>
          <a:xfrm>
            <a:off x="886968" y="2240280"/>
            <a:ext cx="2743200" cy="365760"/>
          </a:xfrm>
          <a:prstGeom prst="rect">
            <a:avLst/>
          </a:prstGeom>
          <a:noFill/>
          <a:ln/>
        </p:spPr>
        <p:txBody>
          <a:bodyPr wrap="square" lIns="0" tIns="0" rIns="0" bIns="0" rtlCol="0" anchor="ctr"/>
          <a:lstStyle/>
          <a:p>
            <a:pPr indent="0" marL="0">
              <a:buNone/>
            </a:pPr>
            <a:r>
              <a:rPr lang="en-US" sz="1800" b="1" dirty="0">
                <a:solidFill>
                  <a:srgbClr val="1C1A17"/>
                </a:solidFill>
                <a:latin typeface="Calibri" pitchFamily="34" charset="0"/>
                <a:ea typeface="Calibri" pitchFamily="34" charset="-122"/>
                <a:cs typeface="Calibri" pitchFamily="34" charset="-120"/>
              </a:rPr>
              <a:t>Visitor</a:t>
            </a:r>
            <a:endParaRPr lang="en-US" sz="1800" dirty="0"/>
          </a:p>
        </p:txBody>
      </p:sp>
      <p:sp>
        <p:nvSpPr>
          <p:cNvPr id="5" name="Text 3"/>
          <p:cNvSpPr txBox="1"/>
          <p:nvPr/>
        </p:nvSpPr>
        <p:spPr>
          <a:xfrm>
            <a:off x="886968" y="2670048"/>
            <a:ext cx="2743200" cy="1188720"/>
          </a:xfrm>
          <a:prstGeom prst="rect">
            <a:avLst/>
          </a:prstGeom>
          <a:noFill/>
          <a:ln/>
        </p:spPr>
        <p:txBody>
          <a:bodyPr wrap="square" lIns="0" tIns="0" rIns="0" bIns="0" rtlCol="0" anchor="ctr"/>
          <a:lstStyle/>
          <a:p>
            <a:pPr indent="0" marL="0">
              <a:lnSpc>
                <a:spcPts val="2100"/>
              </a:lnSpc>
              <a:buNone/>
            </a:pPr>
            <a:r>
              <a:rPr lang="en-US" sz="1350" dirty="0">
                <a:solidFill>
                  <a:srgbClr val="6B6459"/>
                </a:solidFill>
                <a:latin typeface="Calibri" pitchFamily="34" charset="0"/>
                <a:ea typeface="Calibri" pitchFamily="34" charset="-122"/>
                <a:cs typeface="Calibri" pitchFamily="34" charset="-120"/>
              </a:rPr>
              <a:t>Any language, on a plain web page. No account, no app.</a:t>
            </a:r>
            <a:endParaRPr lang="en-US" sz="1350" dirty="0"/>
          </a:p>
        </p:txBody>
      </p:sp>
      <p:sp>
        <p:nvSpPr>
          <p:cNvPr id="6" name="Shape 4"/>
          <p:cNvSpPr/>
          <p:nvPr/>
        </p:nvSpPr>
        <p:spPr>
          <a:xfrm>
            <a:off x="4430268" y="1965960"/>
            <a:ext cx="3328416" cy="2011680"/>
          </a:xfrm>
          <a:prstGeom prst="roundRect">
            <a:avLst>
              <a:gd name="adj" fmla="val 5455"/>
            </a:avLst>
          </a:prstGeom>
          <a:solidFill>
            <a:srgbClr val="F7FAF9"/>
          </a:solidFill>
          <a:ln w="12700">
            <a:solidFill>
              <a:srgbClr val="DFD9CE"/>
            </a:solidFill>
            <a:prstDash val="solid"/>
          </a:ln>
        </p:spPr>
      </p:sp>
      <p:sp>
        <p:nvSpPr>
          <p:cNvPr id="7" name="Text 5"/>
          <p:cNvSpPr txBox="1"/>
          <p:nvPr/>
        </p:nvSpPr>
        <p:spPr>
          <a:xfrm>
            <a:off x="4722876" y="2240280"/>
            <a:ext cx="2743200" cy="365760"/>
          </a:xfrm>
          <a:prstGeom prst="rect">
            <a:avLst/>
          </a:prstGeom>
          <a:noFill/>
          <a:ln/>
        </p:spPr>
        <p:txBody>
          <a:bodyPr wrap="square" lIns="0" tIns="0" rIns="0" bIns="0" rtlCol="0" anchor="ctr"/>
          <a:lstStyle/>
          <a:p>
            <a:pPr indent="0" marL="0">
              <a:buNone/>
            </a:pPr>
            <a:r>
              <a:rPr lang="en-US" sz="1800" b="1" dirty="0">
                <a:solidFill>
                  <a:srgbClr val="1F6F5C"/>
                </a:solidFill>
                <a:latin typeface="Calibri" pitchFamily="34" charset="0"/>
                <a:ea typeface="Calibri" pitchFamily="34" charset="-122"/>
                <a:cs typeface="Calibri" pitchFamily="34" charset="-120"/>
              </a:rPr>
              <a:t>The hub</a:t>
            </a:r>
            <a:endParaRPr lang="en-US" sz="1800" dirty="0"/>
          </a:p>
        </p:txBody>
      </p:sp>
      <p:sp>
        <p:nvSpPr>
          <p:cNvPr id="8" name="Text 6"/>
          <p:cNvSpPr txBox="1"/>
          <p:nvPr/>
        </p:nvSpPr>
        <p:spPr>
          <a:xfrm>
            <a:off x="4722876" y="2670048"/>
            <a:ext cx="2743200" cy="1188720"/>
          </a:xfrm>
          <a:prstGeom prst="rect">
            <a:avLst/>
          </a:prstGeom>
          <a:noFill/>
          <a:ln/>
        </p:spPr>
        <p:txBody>
          <a:bodyPr wrap="square" lIns="0" tIns="0" rIns="0" bIns="0" rtlCol="0" anchor="ctr"/>
          <a:lstStyle/>
          <a:p>
            <a:pPr indent="0" marL="0">
              <a:lnSpc>
                <a:spcPts val="2100"/>
              </a:lnSpc>
              <a:buNone/>
            </a:pPr>
            <a:r>
              <a:rPr lang="en-US" sz="1350" dirty="0">
                <a:solidFill>
                  <a:srgbClr val="6B6459"/>
                </a:solidFill>
                <a:latin typeface="Calibri" pitchFamily="34" charset="0"/>
                <a:ea typeface="Calibri" pitchFamily="34" charset="-122"/>
                <a:cs typeface="Calibri" pitchFamily="34" charset="-120"/>
              </a:rPr>
              <a:t>A laptop today, a Raspberry Pi in the field. Rules, a 1B model, speech recognition, SQLite.</a:t>
            </a:r>
            <a:endParaRPr lang="en-US" sz="1350" dirty="0"/>
          </a:p>
        </p:txBody>
      </p:sp>
      <p:sp>
        <p:nvSpPr>
          <p:cNvPr id="9" name="Shape 7"/>
          <p:cNvSpPr/>
          <p:nvPr/>
        </p:nvSpPr>
        <p:spPr>
          <a:xfrm>
            <a:off x="8266176" y="1965960"/>
            <a:ext cx="3328416" cy="2011680"/>
          </a:xfrm>
          <a:prstGeom prst="roundRect">
            <a:avLst>
              <a:gd name="adj" fmla="val 5455"/>
            </a:avLst>
          </a:prstGeom>
          <a:solidFill>
            <a:srgbClr val="FFFFFF"/>
          </a:solidFill>
          <a:ln w="12700">
            <a:solidFill>
              <a:srgbClr val="DFD9CE"/>
            </a:solidFill>
            <a:prstDash val="solid"/>
          </a:ln>
        </p:spPr>
      </p:sp>
      <p:sp>
        <p:nvSpPr>
          <p:cNvPr id="10" name="Text 8"/>
          <p:cNvSpPr txBox="1"/>
          <p:nvPr/>
        </p:nvSpPr>
        <p:spPr>
          <a:xfrm>
            <a:off x="8558784" y="2240280"/>
            <a:ext cx="2743200" cy="365760"/>
          </a:xfrm>
          <a:prstGeom prst="rect">
            <a:avLst/>
          </a:prstGeom>
          <a:noFill/>
          <a:ln/>
        </p:spPr>
        <p:txBody>
          <a:bodyPr wrap="square" lIns="0" tIns="0" rIns="0" bIns="0" rtlCol="0" anchor="ctr"/>
          <a:lstStyle/>
          <a:p>
            <a:pPr indent="0" marL="0">
              <a:buNone/>
            </a:pPr>
            <a:r>
              <a:rPr lang="en-US" sz="1800" b="1" dirty="0">
                <a:solidFill>
                  <a:srgbClr val="1C1A17"/>
                </a:solidFill>
                <a:latin typeface="Calibri" pitchFamily="34" charset="0"/>
                <a:ea typeface="Calibri" pitchFamily="34" charset="-122"/>
                <a:cs typeface="Calibri" pitchFamily="34" charset="-120"/>
              </a:rPr>
              <a:t>Host</a:t>
            </a:r>
            <a:endParaRPr lang="en-US" sz="1800" dirty="0"/>
          </a:p>
        </p:txBody>
      </p:sp>
      <p:sp>
        <p:nvSpPr>
          <p:cNvPr id="11" name="Text 9"/>
          <p:cNvSpPr txBox="1"/>
          <p:nvPr/>
        </p:nvSpPr>
        <p:spPr>
          <a:xfrm>
            <a:off x="8558784" y="2670048"/>
            <a:ext cx="2743200" cy="1188720"/>
          </a:xfrm>
          <a:prstGeom prst="rect">
            <a:avLst/>
          </a:prstGeom>
          <a:noFill/>
          <a:ln/>
        </p:spPr>
        <p:txBody>
          <a:bodyPr wrap="square" lIns="0" tIns="0" rIns="0" bIns="0" rtlCol="0" anchor="ctr"/>
          <a:lstStyle/>
          <a:p>
            <a:pPr indent="0" marL="0">
              <a:lnSpc>
                <a:spcPts val="2100"/>
              </a:lnSpc>
              <a:buNone/>
            </a:pPr>
            <a:r>
              <a:rPr lang="en-US" sz="1350" dirty="0">
                <a:solidFill>
                  <a:srgbClr val="6B6459"/>
                </a:solidFill>
                <a:latin typeface="Calibri" pitchFamily="34" charset="0"/>
                <a:ea typeface="Calibri" pitchFamily="34" charset="-122"/>
                <a:cs typeface="Calibri" pitchFamily="34" charset="-120"/>
              </a:rPr>
              <a:t>A phone with buttons. SMS in French, answers with one digit.</a:t>
            </a:r>
            <a:endParaRPr lang="en-US" sz="1350" dirty="0"/>
          </a:p>
        </p:txBody>
      </p:sp>
      <p:sp>
        <p:nvSpPr>
          <p:cNvPr id="12" name="Shape 10"/>
          <p:cNvSpPr/>
          <p:nvPr/>
        </p:nvSpPr>
        <p:spPr>
          <a:xfrm>
            <a:off x="4032504" y="2971800"/>
            <a:ext cx="288036" cy="0"/>
          </a:xfrm>
          <a:prstGeom prst="line">
            <a:avLst/>
          </a:prstGeom>
          <a:noFill/>
          <a:ln w="25400">
            <a:solidFill>
              <a:srgbClr val="A06A12"/>
            </a:solidFill>
            <a:prstDash val="solid"/>
            <a:headEnd type="none"/>
            <a:tailEnd type="triangle"/>
          </a:ln>
        </p:spPr>
      </p:sp>
      <p:sp>
        <p:nvSpPr>
          <p:cNvPr id="13" name="Shape 11"/>
          <p:cNvSpPr/>
          <p:nvPr/>
        </p:nvSpPr>
        <p:spPr>
          <a:xfrm>
            <a:off x="7868412" y="2971800"/>
            <a:ext cx="288036" cy="0"/>
          </a:xfrm>
          <a:prstGeom prst="line">
            <a:avLst/>
          </a:prstGeom>
          <a:noFill/>
          <a:ln w="25400">
            <a:solidFill>
              <a:srgbClr val="A06A12"/>
            </a:solidFill>
            <a:prstDash val="solid"/>
            <a:headEnd type="triangle"/>
            <a:tailEnd type="triangle"/>
          </a:ln>
        </p:spPr>
      </p:sp>
      <p:sp>
        <p:nvSpPr>
          <p:cNvPr id="14" name="Text 12"/>
          <p:cNvSpPr txBox="1"/>
          <p:nvPr/>
        </p:nvSpPr>
        <p:spPr>
          <a:xfrm>
            <a:off x="594360" y="4434840"/>
            <a:ext cx="10607040" cy="914400"/>
          </a:xfrm>
          <a:prstGeom prst="rect">
            <a:avLst/>
          </a:prstGeom>
          <a:noFill/>
          <a:ln/>
        </p:spPr>
        <p:txBody>
          <a:bodyPr wrap="square" lIns="0" tIns="0" rIns="0" bIns="0" rtlCol="0" anchor="ctr"/>
          <a:lstStyle/>
          <a:p>
            <a:pPr indent="0" marL="0">
              <a:lnSpc>
                <a:spcPts val="2500"/>
              </a:lnSpc>
              <a:buNone/>
            </a:pPr>
            <a:r>
              <a:rPr lang="en-US" sz="1600" dirty="0">
                <a:solidFill>
                  <a:srgbClr val="3D3832"/>
                </a:solidFill>
                <a:latin typeface="Calibri" pitchFamily="34" charset="0"/>
                <a:ea typeface="Calibri" pitchFamily="34" charset="-122"/>
                <a:cs typeface="Calibri" pitchFamily="34" charset="-120"/>
              </a:rPr>
              <a:t>The tourism office gets a dashboard and an open catalogue, so any destination portal can list these rooms. No part of taking a booking touches the internet.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1A17"/>
        </a:solidFill>
      </p:bgPr>
    </p:bg>
    <p:spTree>
      <p:nvGrpSpPr>
        <p:cNvPr id="1" name=""/>
        <p:cNvGrpSpPr/>
        <p:nvPr/>
      </p:nvGrpSpPr>
      <p:grpSpPr>
        <a:xfrm>
          <a:off x="0" y="0"/>
          <a:ext cx="0" cy="0"/>
          <a:chOff x="0" y="0"/>
          <a:chExt cx="0" cy="0"/>
        </a:xfrm>
      </p:grpSpPr>
      <p:sp>
        <p:nvSpPr>
          <p:cNvPr id="2" name="Text 0"/>
          <p:cNvSpPr txBox="1"/>
          <p:nvPr/>
        </p:nvSpPr>
        <p:spPr>
          <a:xfrm>
            <a:off x="594360" y="457200"/>
            <a:ext cx="11000232" cy="1234440"/>
          </a:xfrm>
          <a:prstGeom prst="rect">
            <a:avLst/>
          </a:prstGeom>
          <a:noFill/>
          <a:ln/>
        </p:spPr>
        <p:txBody>
          <a:bodyPr wrap="square" lIns="0" tIns="0" rIns="0" bIns="0" rtlCol="0" anchor="t"/>
          <a:lstStyle/>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The model never reads a date</a:t>
            </a:r>
            <a:endParaRPr lang="en-US" sz="3200" dirty="0"/>
          </a:p>
        </p:txBody>
      </p:sp>
      <p:sp>
        <p:nvSpPr>
          <p:cNvPr id="3" name="Text 1"/>
          <p:cNvSpPr txBox="1"/>
          <p:nvPr/>
        </p:nvSpPr>
        <p:spPr>
          <a:xfrm>
            <a:off x="594360" y="1600200"/>
            <a:ext cx="10424160" cy="640080"/>
          </a:xfrm>
          <a:prstGeom prst="rect">
            <a:avLst/>
          </a:prstGeom>
          <a:noFill/>
          <a:ln/>
        </p:spPr>
        <p:txBody>
          <a:bodyPr wrap="square" lIns="0" tIns="0" rIns="0" bIns="0" rtlCol="0" anchor="ctr"/>
          <a:lstStyle/>
          <a:p>
            <a:pPr indent="0" marL="0">
              <a:lnSpc>
                <a:spcPts val="2500"/>
              </a:lnSpc>
              <a:buNone/>
            </a:pPr>
            <a:r>
              <a:rPr lang="en-US" sz="1600" dirty="0">
                <a:solidFill>
                  <a:srgbClr val="D8D1C6"/>
                </a:solidFill>
                <a:latin typeface="Calibri" pitchFamily="34" charset="0"/>
                <a:ea typeface="Calibri" pitchFamily="34" charset="-122"/>
                <a:cs typeface="Calibri" pitchFamily="34" charset="-120"/>
              </a:rPr>
              <a:t>We tested the small model on real messages before trusting it with anything. Twice it failed in a way that would put a host on the wrong doorstep.</a:t>
            </a:r>
            <a:endParaRPr lang="en-US" sz="1600" dirty="0"/>
          </a:p>
        </p:txBody>
      </p:sp>
      <p:sp>
        <p:nvSpPr>
          <p:cNvPr id="4" name="Shape 2"/>
          <p:cNvSpPr/>
          <p:nvPr/>
        </p:nvSpPr>
        <p:spPr>
          <a:xfrm>
            <a:off x="594360" y="2423160"/>
            <a:ext cx="5330952" cy="1965960"/>
          </a:xfrm>
          <a:prstGeom prst="roundRect">
            <a:avLst>
              <a:gd name="adj" fmla="val 5581"/>
            </a:avLst>
          </a:prstGeom>
          <a:solidFill>
            <a:srgbClr val="2A2622"/>
          </a:solidFill>
          <a:ln w="12700">
            <a:solidFill>
              <a:srgbClr val="3D3832"/>
            </a:solidFill>
            <a:prstDash val="solid"/>
          </a:ln>
        </p:spPr>
      </p:sp>
      <p:sp>
        <p:nvSpPr>
          <p:cNvPr id="5" name="Text 3"/>
          <p:cNvSpPr txBox="1"/>
          <p:nvPr/>
        </p:nvSpPr>
        <p:spPr>
          <a:xfrm>
            <a:off x="886968" y="2651760"/>
            <a:ext cx="4754880" cy="457200"/>
          </a:xfrm>
          <a:prstGeom prst="rect">
            <a:avLst/>
          </a:prstGeom>
          <a:noFill/>
          <a:ln/>
        </p:spPr>
        <p:txBody>
          <a:bodyPr wrap="square" lIns="0" tIns="0" rIns="0" bIns="0" rtlCol="0" anchor="ctr"/>
          <a:lstStyle/>
          <a:p>
            <a:pPr indent="0" marL="0">
              <a:lnSpc>
                <a:spcPts val="1800"/>
              </a:lnSpc>
              <a:buNone/>
            </a:pPr>
            <a:r>
              <a:rPr lang="en-US" sz="1250" dirty="0">
                <a:solidFill>
                  <a:srgbClr val="C99A3E"/>
                </a:solidFill>
                <a:latin typeface="Calibri" pitchFamily="34" charset="0"/>
                <a:ea typeface="Calibri" pitchFamily="34" charset="-122"/>
                <a:cs typeface="Calibri" pitchFamily="34" charset="-120"/>
              </a:rPr>
              <a:t>We asked it to read</a:t>
            </a:r>
            <a:endParaRPr lang="en-US" sz="1250" dirty="0"/>
          </a:p>
        </p:txBody>
      </p:sp>
      <p:sp>
        <p:nvSpPr>
          <p:cNvPr id="6" name="Text 4"/>
          <p:cNvSpPr txBox="1"/>
          <p:nvPr/>
        </p:nvSpPr>
        <p:spPr>
          <a:xfrm>
            <a:off x="886968" y="3127248"/>
            <a:ext cx="475488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“du 20 au 23 octobre”</a:t>
            </a:r>
            <a:endParaRPr lang="en-US" sz="1800" dirty="0"/>
          </a:p>
        </p:txBody>
      </p:sp>
      <p:sp>
        <p:nvSpPr>
          <p:cNvPr id="7" name="Text 5"/>
          <p:cNvSpPr txBox="1"/>
          <p:nvPr/>
        </p:nvSpPr>
        <p:spPr>
          <a:xfrm>
            <a:off x="886968" y="3657600"/>
            <a:ext cx="4754880" cy="594360"/>
          </a:xfrm>
          <a:prstGeom prst="rect">
            <a:avLst/>
          </a:prstGeom>
          <a:noFill/>
          <a:ln/>
        </p:spPr>
        <p:txBody>
          <a:bodyPr wrap="square" lIns="0" tIns="0" rIns="0" bIns="0" rtlCol="0" anchor="ctr"/>
          <a:lstStyle/>
          <a:p>
            <a:pPr indent="0" marL="0">
              <a:lnSpc>
                <a:spcPts val="2000"/>
              </a:lnSpc>
              <a:buNone/>
            </a:pPr>
            <a:r>
              <a:rPr lang="en-US" sz="1350" dirty="0">
                <a:solidFill>
                  <a:srgbClr val="B9B2A6"/>
                </a:solidFill>
                <a:latin typeface="Calibri" pitchFamily="34" charset="0"/>
                <a:ea typeface="Calibri" pitchFamily="34" charset="-122"/>
                <a:cs typeface="Calibri" pitchFamily="34" charset="-120"/>
              </a:rPr>
              <a:t>It answered the 23rd. The guest arrives three days late.</a:t>
            </a:r>
            <a:endParaRPr lang="en-US" sz="1350" dirty="0"/>
          </a:p>
        </p:txBody>
      </p:sp>
      <p:sp>
        <p:nvSpPr>
          <p:cNvPr id="8" name="Shape 6"/>
          <p:cNvSpPr/>
          <p:nvPr/>
        </p:nvSpPr>
        <p:spPr>
          <a:xfrm>
            <a:off x="6263640" y="2423160"/>
            <a:ext cx="5330952" cy="1965960"/>
          </a:xfrm>
          <a:prstGeom prst="roundRect">
            <a:avLst>
              <a:gd name="adj" fmla="val 5581"/>
            </a:avLst>
          </a:prstGeom>
          <a:solidFill>
            <a:srgbClr val="2A2622"/>
          </a:solidFill>
          <a:ln w="12700">
            <a:solidFill>
              <a:srgbClr val="3D3832"/>
            </a:solidFill>
            <a:prstDash val="solid"/>
          </a:ln>
        </p:spPr>
      </p:sp>
      <p:sp>
        <p:nvSpPr>
          <p:cNvPr id="9" name="Text 7"/>
          <p:cNvSpPr txBox="1"/>
          <p:nvPr/>
        </p:nvSpPr>
        <p:spPr>
          <a:xfrm>
            <a:off x="6556248" y="2651760"/>
            <a:ext cx="4754880" cy="457200"/>
          </a:xfrm>
          <a:prstGeom prst="rect">
            <a:avLst/>
          </a:prstGeom>
          <a:noFill/>
          <a:ln/>
        </p:spPr>
        <p:txBody>
          <a:bodyPr wrap="square" lIns="0" tIns="0" rIns="0" bIns="0" rtlCol="0" anchor="ctr"/>
          <a:lstStyle/>
          <a:p>
            <a:pPr indent="0" marL="0">
              <a:lnSpc>
                <a:spcPts val="1800"/>
              </a:lnSpc>
              <a:buNone/>
            </a:pPr>
            <a:r>
              <a:rPr lang="en-US" sz="1250" dirty="0">
                <a:solidFill>
                  <a:srgbClr val="C99A3E"/>
                </a:solidFill>
                <a:latin typeface="Calibri" pitchFamily="34" charset="0"/>
                <a:ea typeface="Calibri" pitchFamily="34" charset="-122"/>
                <a:cs typeface="Calibri" pitchFamily="34" charset="-120"/>
              </a:rPr>
              <a:t>We asked about a message with no mention of food</a:t>
            </a:r>
            <a:endParaRPr lang="en-US" sz="1250" dirty="0"/>
          </a:p>
        </p:txBody>
      </p:sp>
      <p:sp>
        <p:nvSpPr>
          <p:cNvPr id="10" name="Text 8"/>
          <p:cNvSpPr txBox="1"/>
          <p:nvPr/>
        </p:nvSpPr>
        <p:spPr>
          <a:xfrm>
            <a:off x="6556248" y="3127248"/>
            <a:ext cx="475488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It said breakfast was included</a:t>
            </a:r>
            <a:endParaRPr lang="en-US" sz="1800" dirty="0"/>
          </a:p>
        </p:txBody>
      </p:sp>
      <p:sp>
        <p:nvSpPr>
          <p:cNvPr id="11" name="Text 9"/>
          <p:cNvSpPr txBox="1"/>
          <p:nvPr/>
        </p:nvSpPr>
        <p:spPr>
          <a:xfrm>
            <a:off x="6556248" y="3657600"/>
            <a:ext cx="4754880" cy="594360"/>
          </a:xfrm>
          <a:prstGeom prst="rect">
            <a:avLst/>
          </a:prstGeom>
          <a:noFill/>
          <a:ln/>
        </p:spPr>
        <p:txBody>
          <a:bodyPr wrap="square" lIns="0" tIns="0" rIns="0" bIns="0" rtlCol="0" anchor="ctr"/>
          <a:lstStyle/>
          <a:p>
            <a:pPr indent="0" marL="0">
              <a:lnSpc>
                <a:spcPts val="2000"/>
              </a:lnSpc>
              <a:buNone/>
            </a:pPr>
            <a:r>
              <a:rPr lang="en-US" sz="1350" dirty="0">
                <a:solidFill>
                  <a:srgbClr val="B9B2A6"/>
                </a:solidFill>
                <a:latin typeface="Calibri" pitchFamily="34" charset="0"/>
                <a:ea typeface="Calibri" pitchFamily="34" charset="-122"/>
                <a:cs typeface="Calibri" pitchFamily="34" charset="-120"/>
              </a:rPr>
              <a:t>Every single time. The host loses money on a meal nobody ordered.</a:t>
            </a:r>
            <a:endParaRPr lang="en-US" sz="1350" dirty="0"/>
          </a:p>
        </p:txBody>
      </p:sp>
      <p:sp>
        <p:nvSpPr>
          <p:cNvPr id="12" name="Text 10"/>
          <p:cNvSpPr txBox="1"/>
          <p:nvPr/>
        </p:nvSpPr>
        <p:spPr>
          <a:xfrm>
            <a:off x="594360" y="4709160"/>
            <a:ext cx="10881360" cy="1097280"/>
          </a:xfrm>
          <a:prstGeom prst="rect">
            <a:avLst/>
          </a:prstGeom>
          <a:noFill/>
          <a:ln/>
        </p:spPr>
        <p:txBody>
          <a:bodyPr wrap="square" lIns="0" tIns="0" rIns="0" bIns="0" rtlCol="0" anchor="ctr"/>
          <a:lstStyle/>
          <a:p>
            <a:pPr indent="0" marL="0">
              <a:lnSpc>
                <a:spcPts val="2600"/>
              </a:lnSpc>
              <a:buNone/>
            </a:pPr>
            <a:r>
              <a:rPr lang="en-US" sz="1650" dirty="0">
                <a:solidFill>
                  <a:srgbClr val="FFFFFF"/>
                </a:solidFill>
                <a:latin typeface="Calibri" pitchFamily="34" charset="0"/>
                <a:ea typeface="Calibri" pitchFamily="34" charset="-122"/>
                <a:cs typeface="Calibri" pitchFamily="34" charset="-120"/>
              </a:rPr>
              <a:t>So dates, nights, guests, prices and meals are read by rules, in Korean, French and English. The model only fills what the rules leave blank, and it can never overwrite them. When neither can read a date, Karibu says so instead of guessing.</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57200"/>
            <a:ext cx="11000232" cy="1234440"/>
          </a:xfrm>
          <a:prstGeom prst="rect">
            <a:avLst/>
          </a:prstGeom>
          <a:noFill/>
          <a:ln/>
        </p:spPr>
        <p:txBody>
          <a:bodyPr wrap="square" lIns="0" tIns="0" rIns="0" bIns="0" rtlCol="0" anchor="t"/>
          <a:lstStyle/>
          <a:p>
            <a:pPr indent="0" marL="0">
              <a:lnSpc>
                <a:spcPts val="3800"/>
              </a:lnSpc>
              <a:buNone/>
            </a:pPr>
            <a:r>
              <a:rPr lang="en-US" sz="3200" b="1" dirty="0">
                <a:solidFill>
                  <a:srgbClr val="1C1A17"/>
                </a:solidFill>
                <a:latin typeface="Cambria" pitchFamily="34" charset="0"/>
                <a:ea typeface="Cambria" pitchFamily="34" charset="-122"/>
                <a:cs typeface="Cambria" pitchFamily="34" charset="-120"/>
              </a:rPr>
              <a:t>Measured on a laptop, no GPU, no cloud</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1000232" cy="914400"/>
        </p:xfrm>
        <a:graphic>
          <a:graphicData uri="http://schemas.openxmlformats.org/drawingml/2006/table">
            <a:tbl>
              <a:tblPr/>
              <a:tblGrid>
                <a:gridCol w="6949440"/>
                <a:gridCol w="4050792"/>
              </a:tblGrid>
              <a:tr h="438912">
                <a:tc>
                  <a:txBody>
                    <a:bodyPr/>
                    <a:lstStyle/>
                    <a:p>
                      <a:pPr indent="0" marL="0">
                        <a:buNone/>
                      </a:pPr>
                      <a:r>
                        <a:rPr lang="en-US" sz="1100" b="1" spc="200" kern="0" dirty="0">
                          <a:solidFill>
                            <a:srgbClr val="6B6459"/>
                          </a:solidFill>
                          <a:latin typeface="Calibri" pitchFamily="34" charset="0"/>
                          <a:ea typeface="Calibri" pitchFamily="34" charset="-122"/>
                          <a:cs typeface="Calibri" pitchFamily="34" charset="-120"/>
                        </a:rPr>
                        <a:t>WHAT</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c>
                  <a:txBody>
                    <a:bodyPr/>
                    <a:lstStyle/>
                    <a:p>
                      <a:pPr algn="r" indent="0" marL="0">
                        <a:buNone/>
                      </a:pPr>
                      <a:r>
                        <a:rPr lang="en-US" sz="1100" b="1" spc="200" kern="0" dirty="0">
                          <a:solidFill>
                            <a:srgbClr val="6B6459"/>
                          </a:solidFill>
                          <a:latin typeface="Calibri" pitchFamily="34" charset="0"/>
                          <a:ea typeface="Calibri" pitchFamily="34" charset="-122"/>
                          <a:cs typeface="Calibri" pitchFamily="34" charset="-120"/>
                        </a:rPr>
                        <a:t>MEASURED</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r>
              <a:tr h="438912">
                <a:tc>
                  <a:txBody>
                    <a:bodyPr/>
                    <a:lstStyle/>
                    <a:p>
                      <a:pPr indent="0" marL="0">
                        <a:buNone/>
                      </a:pPr>
                      <a:r>
                        <a:rPr lang="en-US" sz="1500" dirty="0">
                          <a:solidFill>
                            <a:srgbClr val="3D3832"/>
                          </a:solidFill>
                          <a:latin typeface="Calibri" pitchFamily="34" charset="0"/>
                          <a:ea typeface="Calibri" pitchFamily="34" charset="-122"/>
                          <a:cs typeface="Calibri" pitchFamily="34" charset="-120"/>
                        </a:rPr>
                        <a:t>Rules read a whole message</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c>
                  <a:txBody>
                    <a:bodyPr/>
                    <a:lstStyle/>
                    <a:p>
                      <a:pPr algn="r" indent="0" marL="0">
                        <a:buNone/>
                      </a:pPr>
                      <a:r>
                        <a:rPr lang="en-US" sz="1500" b="1" dirty="0">
                          <a:solidFill>
                            <a:srgbClr val="1C1A17"/>
                          </a:solidFill>
                          <a:latin typeface="Calibri" pitchFamily="34" charset="0"/>
                          <a:ea typeface="Calibri" pitchFamily="34" charset="-122"/>
                          <a:cs typeface="Calibri" pitchFamily="34" charset="-120"/>
                        </a:rPr>
                        <a:t>0.1 ms</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r>
              <a:tr h="438912">
                <a:tc>
                  <a:txBody>
                    <a:bodyPr/>
                    <a:lstStyle/>
                    <a:p>
                      <a:pPr indent="0" marL="0">
                        <a:buNone/>
                      </a:pPr>
                      <a:r>
                        <a:rPr lang="en-US" sz="1500" dirty="0">
                          <a:solidFill>
                            <a:srgbClr val="3D3832"/>
                          </a:solidFill>
                          <a:latin typeface="Calibri" pitchFamily="34" charset="0"/>
                          <a:ea typeface="Calibri" pitchFamily="34" charset="-122"/>
                          <a:cs typeface="Calibri" pitchFamily="34" charset="-120"/>
                        </a:rPr>
                        <a:t>The model fills a blank the rules left</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c>
                  <a:txBody>
                    <a:bodyPr/>
                    <a:lstStyle/>
                    <a:p>
                      <a:pPr algn="r" indent="0" marL="0">
                        <a:buNone/>
                      </a:pPr>
                      <a:r>
                        <a:rPr lang="en-US" sz="1500" b="1" dirty="0">
                          <a:solidFill>
                            <a:srgbClr val="1C1A17"/>
                          </a:solidFill>
                          <a:latin typeface="Calibri" pitchFamily="34" charset="0"/>
                          <a:ea typeface="Calibri" pitchFamily="34" charset="-122"/>
                          <a:cs typeface="Calibri" pitchFamily="34" charset="-120"/>
                        </a:rPr>
                        <a:t>2.6 s</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r>
              <a:tr h="438912">
                <a:tc>
                  <a:txBody>
                    <a:bodyPr/>
                    <a:lstStyle/>
                    <a:p>
                      <a:pPr indent="0" marL="0">
                        <a:buNone/>
                      </a:pPr>
                      <a:r>
                        <a:rPr lang="en-US" sz="1500" dirty="0">
                          <a:solidFill>
                            <a:srgbClr val="3D3832"/>
                          </a:solidFill>
                          <a:latin typeface="Calibri" pitchFamily="34" charset="0"/>
                          <a:ea typeface="Calibri" pitchFamily="34" charset="-122"/>
                          <a:cs typeface="Calibri" pitchFamily="34" charset="-120"/>
                        </a:rPr>
                        <a:t>Speech turned into a finished listing</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c>
                  <a:txBody>
                    <a:bodyPr/>
                    <a:lstStyle/>
                    <a:p>
                      <a:pPr algn="r" indent="0" marL="0">
                        <a:buNone/>
                      </a:pPr>
                      <a:r>
                        <a:rPr lang="en-US" sz="1500" b="1" dirty="0">
                          <a:solidFill>
                            <a:srgbClr val="1C1A17"/>
                          </a:solidFill>
                          <a:latin typeface="Calibri" pitchFamily="34" charset="0"/>
                          <a:ea typeface="Calibri" pitchFamily="34" charset="-122"/>
                          <a:cs typeface="Calibri" pitchFamily="34" charset="-120"/>
                        </a:rPr>
                        <a:t>3.7 s</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r>
              <a:tr h="438912">
                <a:tc>
                  <a:txBody>
                    <a:bodyPr/>
                    <a:lstStyle/>
                    <a:p>
                      <a:pPr indent="0" marL="0">
                        <a:buNone/>
                      </a:pPr>
                      <a:r>
                        <a:rPr lang="en-US" sz="1500" dirty="0">
                          <a:solidFill>
                            <a:srgbClr val="3D3832"/>
                          </a:solidFill>
                          <a:latin typeface="Calibri" pitchFamily="34" charset="0"/>
                          <a:ea typeface="Calibri" pitchFamily="34" charset="-122"/>
                          <a:cs typeface="Calibri" pitchFamily="34" charset="-120"/>
                        </a:rPr>
                        <a:t>Longest message we send a host</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c>
                  <a:txBody>
                    <a:bodyPr/>
                    <a:lstStyle/>
                    <a:p>
                      <a:pPr algn="r" indent="0" marL="0">
                        <a:buNone/>
                      </a:pPr>
                      <a:r>
                        <a:rPr lang="en-US" sz="1500" b="1" dirty="0">
                          <a:solidFill>
                            <a:srgbClr val="1C1A17"/>
                          </a:solidFill>
                          <a:latin typeface="Calibri" pitchFamily="34" charset="0"/>
                          <a:ea typeface="Calibri" pitchFamily="34" charset="-122"/>
                          <a:cs typeface="Calibri" pitchFamily="34" charset="-120"/>
                        </a:rPr>
                        <a:t>113 characters, 1 segment</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r>
              <a:tr h="438912">
                <a:tc>
                  <a:txBody>
                    <a:bodyPr/>
                    <a:lstStyle/>
                    <a:p>
                      <a:pPr indent="0" marL="0">
                        <a:buNone/>
                      </a:pPr>
                      <a:r>
                        <a:rPr lang="en-US" sz="1500" dirty="0">
                          <a:solidFill>
                            <a:srgbClr val="3D3832"/>
                          </a:solidFill>
                          <a:latin typeface="Calibri" pitchFamily="34" charset="0"/>
                          <a:ea typeface="Calibri" pitchFamily="34" charset="-122"/>
                          <a:cs typeface="Calibri" pitchFamily="34" charset="-120"/>
                        </a:rPr>
                        <a:t>Cost of one completed booking</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c>
                  <a:txBody>
                    <a:bodyPr/>
                    <a:lstStyle/>
                    <a:p>
                      <a:pPr algn="r" indent="0" marL="0">
                        <a:buNone/>
                      </a:pPr>
                      <a:r>
                        <a:rPr lang="en-US" sz="1500" b="1" dirty="0">
                          <a:solidFill>
                            <a:srgbClr val="1C1A17"/>
                          </a:solidFill>
                          <a:latin typeface="Calibri" pitchFamily="34" charset="0"/>
                          <a:ea typeface="Calibri" pitchFamily="34" charset="-122"/>
                          <a:cs typeface="Calibri" pitchFamily="34" charset="-120"/>
                        </a:rPr>
                        <a:t>about 0.08 USD</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r>
              <a:tr h="438912">
                <a:tc>
                  <a:txBody>
                    <a:bodyPr/>
                    <a:lstStyle/>
                    <a:p>
                      <a:pPr indent="0" marL="0">
                        <a:buNone/>
                      </a:pPr>
                      <a:r>
                        <a:rPr lang="en-US" sz="1500" dirty="0">
                          <a:solidFill>
                            <a:srgbClr val="3D3832"/>
                          </a:solidFill>
                          <a:latin typeface="Calibri" pitchFamily="34" charset="0"/>
                          <a:ea typeface="Calibri" pitchFamily="34" charset="-122"/>
                          <a:cs typeface="Calibri" pitchFamily="34" charset="-120"/>
                        </a:rPr>
                        <a:t>Hub for one tourism office</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c>
                  <a:txBody>
                    <a:bodyPr/>
                    <a:lstStyle/>
                    <a:p>
                      <a:pPr algn="r" indent="0" marL="0">
                        <a:buNone/>
                      </a:pPr>
                      <a:r>
                        <a:rPr lang="en-US" sz="1500" b="1" dirty="0">
                          <a:solidFill>
                            <a:srgbClr val="1C1A17"/>
                          </a:solidFill>
                          <a:latin typeface="Calibri" pitchFamily="34" charset="0"/>
                          <a:ea typeface="Calibri" pitchFamily="34" charset="-122"/>
                          <a:cs typeface="Calibri" pitchFamily="34" charset="-120"/>
                        </a:rPr>
                        <a:t>about 80 USD, once</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r>
              <a:tr h="438912">
                <a:tc>
                  <a:txBody>
                    <a:bodyPr/>
                    <a:lstStyle/>
                    <a:p>
                      <a:pPr indent="0" marL="0">
                        <a:buNone/>
                      </a:pPr>
                      <a:r>
                        <a:rPr lang="en-US" sz="1500" dirty="0">
                          <a:solidFill>
                            <a:srgbClr val="3D3832"/>
                          </a:solidFill>
                          <a:latin typeface="Calibri" pitchFamily="34" charset="0"/>
                          <a:ea typeface="Calibri" pitchFamily="34" charset="-122"/>
                          <a:cs typeface="Calibri" pitchFamily="34" charset="-120"/>
                        </a:rPr>
                        <a:t>Internet needed to take a booking</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c>
                  <a:txBody>
                    <a:bodyPr/>
                    <a:lstStyle/>
                    <a:p>
                      <a:pPr algn="r" indent="0" marL="0">
                        <a:buNone/>
                      </a:pPr>
                      <a:r>
                        <a:rPr lang="en-US" sz="1500" b="1" dirty="0">
                          <a:solidFill>
                            <a:srgbClr val="1C1A17"/>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76200" marR="76200" marT="50800" marB="50800" anchor="ctr">
                    <a:lnL w="0" cap="flat" cmpd="sng" algn="ctr">
                      <a:noFill/>
                    </a:lnL>
                    <a:lnR w="0" cap="flat" cmpd="sng" algn="ctr">
                      <a:noFill/>
                    </a:lnR>
                    <a:lnT w="0" cap="flat" cmpd="sng" algn="ctr">
                      <a:noFill/>
                    </a:lnT>
                    <a:lnB w="12700" cap="flat" cmpd="sng" algn="ctr">
                      <a:solidFill>
                        <a:srgbClr val="DFD9CE"/>
                      </a:solidFill>
                      <a:prstDash val="solid"/>
                      <a:round/>
                      <a:headEnd type="none" w="med" len="med"/>
                      <a:tailEnd type="none" w="med" len="med"/>
                    </a:lnB>
                  </a:tcPr>
                </a:tc>
              </a:tr>
            </a:tbl>
          </a:graphicData>
        </a:graphic>
      </p:graphicFrame>
      <p:sp>
        <p:nvSpPr>
          <p:cNvPr id="4" name="Text 1"/>
          <p:cNvSpPr txBox="1"/>
          <p:nvPr/>
        </p:nvSpPr>
        <p:spPr>
          <a:xfrm>
            <a:off x="594360" y="6035040"/>
            <a:ext cx="11000232" cy="274320"/>
          </a:xfrm>
          <a:prstGeom prst="rect">
            <a:avLst/>
          </a:prstGeom>
          <a:noFill/>
          <a:ln/>
        </p:spPr>
        <p:txBody>
          <a:bodyPr wrap="square" lIns="0" tIns="0" rIns="0" bIns="0" rtlCol="0" anchor="ctr"/>
          <a:lstStyle/>
          <a:p>
            <a:pPr indent="0" marL="0">
              <a:buNone/>
            </a:pPr>
            <a:r>
              <a:rPr lang="en-US" sz="1200" dirty="0">
                <a:solidFill>
                  <a:srgbClr val="6B6459"/>
                </a:solidFill>
                <a:latin typeface="Calibri" pitchFamily="34" charset="0"/>
                <a:ea typeface="Calibri" pitchFamily="34" charset="-122"/>
                <a:cs typeface="Calibri" pitchFamily="34" charset="-120"/>
              </a:rPr>
              <a:t>The language model is 815 MB on disk. Every figure can be rerun with one command in the repository.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57200"/>
            <a:ext cx="11000232" cy="1234440"/>
          </a:xfrm>
          <a:prstGeom prst="rect">
            <a:avLst/>
          </a:prstGeom>
          <a:noFill/>
          <a:ln/>
        </p:spPr>
        <p:txBody>
          <a:bodyPr wrap="square" lIns="0" tIns="0" rIns="0" bIns="0" rtlCol="0" anchor="t"/>
          <a:lstStyle/>
          <a:p>
            <a:pPr indent="0" marL="0">
              <a:lnSpc>
                <a:spcPts val="3800"/>
              </a:lnSpc>
              <a:buNone/>
            </a:pPr>
            <a:r>
              <a:rPr lang="en-US" sz="3200" b="1" dirty="0">
                <a:solidFill>
                  <a:srgbClr val="1C1A17"/>
                </a:solidFill>
                <a:latin typeface="Cambria" pitchFamily="34" charset="0"/>
                <a:ea typeface="Cambria" pitchFamily="34" charset="-122"/>
                <a:cs typeface="Cambria" pitchFamily="34" charset="-120"/>
              </a:rPr>
              <a:t>What we gave up to fit inside one text message</a:t>
            </a:r>
            <a:endParaRPr lang="en-US" sz="3200" dirty="0"/>
          </a:p>
        </p:txBody>
      </p:sp>
      <p:sp>
        <p:nvSpPr>
          <p:cNvPr id="3" name="Text 1"/>
          <p:cNvSpPr txBox="1"/>
          <p:nvPr/>
        </p:nvSpPr>
        <p:spPr>
          <a:xfrm>
            <a:off x="594360" y="1728216"/>
            <a:ext cx="3931920" cy="640080"/>
          </a:xfrm>
          <a:prstGeom prst="rect">
            <a:avLst/>
          </a:prstGeom>
          <a:noFill/>
          <a:ln/>
        </p:spPr>
        <p:txBody>
          <a:bodyPr wrap="square" lIns="0" tIns="0" rIns="0" bIns="0" rtlCol="0" anchor="ctr"/>
          <a:lstStyle/>
          <a:p>
            <a:pPr indent="0" marL="0">
              <a:lnSpc>
                <a:spcPts val="2100"/>
              </a:lnSpc>
              <a:buNone/>
            </a:pPr>
            <a:r>
              <a:rPr lang="en-US" sz="1500" b="1" dirty="0">
                <a:solidFill>
                  <a:srgbClr val="1C1A17"/>
                </a:solidFill>
                <a:latin typeface="Calibri" pitchFamily="34" charset="0"/>
                <a:ea typeface="Calibri" pitchFamily="34" charset="-122"/>
                <a:cs typeface="Calibri" pitchFamily="34" charset="-120"/>
              </a:rPr>
              <a:t>160 characters, not a screen</a:t>
            </a:r>
            <a:endParaRPr lang="en-US" sz="1500" dirty="0"/>
          </a:p>
        </p:txBody>
      </p:sp>
      <p:sp>
        <p:nvSpPr>
          <p:cNvPr id="4" name="Text 2"/>
          <p:cNvSpPr txBox="1"/>
          <p:nvPr/>
        </p:nvSpPr>
        <p:spPr>
          <a:xfrm>
            <a:off x="4709160" y="1691640"/>
            <a:ext cx="6858000" cy="777240"/>
          </a:xfrm>
          <a:prstGeom prst="rect">
            <a:avLst/>
          </a:prstGeom>
          <a:noFill/>
          <a:ln/>
        </p:spPr>
        <p:txBody>
          <a:bodyPr wrap="square" lIns="0" tIns="0" rIns="0" bIns="0" rtlCol="0" anchor="ctr"/>
          <a:lstStyle/>
          <a:p>
            <a:pPr indent="0" marL="0">
              <a:lnSpc>
                <a:spcPts val="2000"/>
              </a:lnSpc>
              <a:buNone/>
            </a:pPr>
            <a:r>
              <a:rPr lang="en-US" sz="1350" dirty="0">
                <a:solidFill>
                  <a:srgbClr val="3D3832"/>
                </a:solidFill>
                <a:latin typeface="Calibri" pitchFamily="34" charset="0"/>
                <a:ea typeface="Calibri" pitchFamily="34" charset="-122"/>
                <a:cs typeface="Calibri" pitchFamily="34" charset="-120"/>
              </a:rPr>
              <a:t>Every question we ask the host is closed and every answer is one character. We lose choice and we gain a message that costs one segment and shows on any handset.</a:t>
            </a:r>
            <a:endParaRPr lang="en-US" sz="1350" dirty="0"/>
          </a:p>
        </p:txBody>
      </p:sp>
      <p:sp>
        <p:nvSpPr>
          <p:cNvPr id="5" name="Shape 3"/>
          <p:cNvSpPr/>
          <p:nvPr/>
        </p:nvSpPr>
        <p:spPr>
          <a:xfrm>
            <a:off x="594360" y="2532888"/>
            <a:ext cx="11000232" cy="0"/>
          </a:xfrm>
          <a:prstGeom prst="line">
            <a:avLst/>
          </a:prstGeom>
          <a:noFill/>
          <a:ln w="12700">
            <a:solidFill>
              <a:srgbClr val="DFD9CE"/>
            </a:solidFill>
            <a:prstDash val="solid"/>
          </a:ln>
        </p:spPr>
      </p:sp>
      <p:sp>
        <p:nvSpPr>
          <p:cNvPr id="6" name="Text 4"/>
          <p:cNvSpPr txBox="1"/>
          <p:nvPr/>
        </p:nvSpPr>
        <p:spPr>
          <a:xfrm>
            <a:off x="594360" y="2660904"/>
            <a:ext cx="3931920" cy="640080"/>
          </a:xfrm>
          <a:prstGeom prst="rect">
            <a:avLst/>
          </a:prstGeom>
          <a:noFill/>
          <a:ln/>
        </p:spPr>
        <p:txBody>
          <a:bodyPr wrap="square" lIns="0" tIns="0" rIns="0" bIns="0" rtlCol="0" anchor="ctr"/>
          <a:lstStyle/>
          <a:p>
            <a:pPr indent="0" marL="0">
              <a:lnSpc>
                <a:spcPts val="2100"/>
              </a:lnSpc>
              <a:buNone/>
            </a:pPr>
            <a:r>
              <a:rPr lang="en-US" sz="1500" b="1" dirty="0">
                <a:solidFill>
                  <a:srgbClr val="1C1A17"/>
                </a:solidFill>
                <a:latin typeface="Calibri" pitchFamily="34" charset="0"/>
                <a:ea typeface="Calibri" pitchFamily="34" charset="-122"/>
                <a:cs typeface="Calibri" pitchFamily="34" charset="-120"/>
              </a:rPr>
              <a:t>Rules, not a bigger model</a:t>
            </a:r>
            <a:endParaRPr lang="en-US" sz="1500" dirty="0"/>
          </a:p>
        </p:txBody>
      </p:sp>
      <p:sp>
        <p:nvSpPr>
          <p:cNvPr id="7" name="Text 5"/>
          <p:cNvSpPr txBox="1"/>
          <p:nvPr/>
        </p:nvSpPr>
        <p:spPr>
          <a:xfrm>
            <a:off x="4709160" y="2624328"/>
            <a:ext cx="6858000" cy="777240"/>
          </a:xfrm>
          <a:prstGeom prst="rect">
            <a:avLst/>
          </a:prstGeom>
          <a:noFill/>
          <a:ln/>
        </p:spPr>
        <p:txBody>
          <a:bodyPr wrap="square" lIns="0" tIns="0" rIns="0" bIns="0" rtlCol="0" anchor="ctr"/>
          <a:lstStyle/>
          <a:p>
            <a:pPr indent="0" marL="0">
              <a:lnSpc>
                <a:spcPts val="2000"/>
              </a:lnSpc>
              <a:buNone/>
            </a:pPr>
            <a:r>
              <a:rPr lang="en-US" sz="1350" dirty="0">
                <a:solidFill>
                  <a:srgbClr val="3D3832"/>
                </a:solidFill>
                <a:latin typeface="Calibri" pitchFamily="34" charset="0"/>
                <a:ea typeface="Calibri" pitchFamily="34" charset="-122"/>
                <a:cs typeface="Calibri" pitchFamily="34" charset="-120"/>
              </a:rPr>
              <a:t>Rules do not generalise. Each language had to be written by hand. In exchange the dates are right and the answer comes back in a millisecond.</a:t>
            </a:r>
            <a:endParaRPr lang="en-US" sz="1350" dirty="0"/>
          </a:p>
        </p:txBody>
      </p:sp>
      <p:sp>
        <p:nvSpPr>
          <p:cNvPr id="8" name="Shape 6"/>
          <p:cNvSpPr/>
          <p:nvPr/>
        </p:nvSpPr>
        <p:spPr>
          <a:xfrm>
            <a:off x="594360" y="3465576"/>
            <a:ext cx="11000232" cy="0"/>
          </a:xfrm>
          <a:prstGeom prst="line">
            <a:avLst/>
          </a:prstGeom>
          <a:noFill/>
          <a:ln w="12700">
            <a:solidFill>
              <a:srgbClr val="DFD9CE"/>
            </a:solidFill>
            <a:prstDash val="solid"/>
          </a:ln>
        </p:spPr>
      </p:sp>
      <p:sp>
        <p:nvSpPr>
          <p:cNvPr id="9" name="Text 7"/>
          <p:cNvSpPr txBox="1"/>
          <p:nvPr/>
        </p:nvSpPr>
        <p:spPr>
          <a:xfrm>
            <a:off x="594360" y="3593592"/>
            <a:ext cx="3931920" cy="640080"/>
          </a:xfrm>
          <a:prstGeom prst="rect">
            <a:avLst/>
          </a:prstGeom>
          <a:noFill/>
          <a:ln/>
        </p:spPr>
        <p:txBody>
          <a:bodyPr wrap="square" lIns="0" tIns="0" rIns="0" bIns="0" rtlCol="0" anchor="ctr"/>
          <a:lstStyle/>
          <a:p>
            <a:pPr indent="0" marL="0">
              <a:lnSpc>
                <a:spcPts val="2100"/>
              </a:lnSpc>
              <a:buNone/>
            </a:pPr>
            <a:r>
              <a:rPr lang="en-US" sz="1500" b="1" dirty="0">
                <a:solidFill>
                  <a:srgbClr val="1C1A17"/>
                </a:solidFill>
                <a:latin typeface="Calibri" pitchFamily="34" charset="0"/>
                <a:ea typeface="Calibri" pitchFamily="34" charset="-122"/>
                <a:cs typeface="Calibri" pitchFamily="34" charset="-120"/>
              </a:rPr>
              <a:t>The host makes them wait</a:t>
            </a:r>
            <a:endParaRPr lang="en-US" sz="1500" dirty="0"/>
          </a:p>
        </p:txBody>
      </p:sp>
      <p:sp>
        <p:nvSpPr>
          <p:cNvPr id="10" name="Text 8"/>
          <p:cNvSpPr txBox="1"/>
          <p:nvPr/>
        </p:nvSpPr>
        <p:spPr>
          <a:xfrm>
            <a:off x="4709160" y="3557016"/>
            <a:ext cx="6858000" cy="777240"/>
          </a:xfrm>
          <a:prstGeom prst="rect">
            <a:avLst/>
          </a:prstGeom>
          <a:noFill/>
          <a:ln/>
        </p:spPr>
        <p:txBody>
          <a:bodyPr wrap="square" lIns="0" tIns="0" rIns="0" bIns="0" rtlCol="0" anchor="ctr"/>
          <a:lstStyle/>
          <a:p>
            <a:pPr indent="0" marL="0">
              <a:lnSpc>
                <a:spcPts val="2000"/>
              </a:lnSpc>
              <a:buNone/>
            </a:pPr>
            <a:r>
              <a:rPr lang="en-US" sz="1350" dirty="0">
                <a:solidFill>
                  <a:srgbClr val="3D3832"/>
                </a:solidFill>
                <a:latin typeface="Calibri" pitchFamily="34" charset="0"/>
                <a:ea typeface="Calibri" pitchFamily="34" charset="-122"/>
                <a:cs typeface="Calibri" pitchFamily="34" charset="-120"/>
              </a:rPr>
              <a:t>Confirmation is not instant. The visitor is told to allow two hours, and the request expires after that so nobody is left hanging.</a:t>
            </a:r>
            <a:endParaRPr lang="en-US" sz="1350" dirty="0"/>
          </a:p>
        </p:txBody>
      </p:sp>
      <p:sp>
        <p:nvSpPr>
          <p:cNvPr id="11" name="Shape 9"/>
          <p:cNvSpPr/>
          <p:nvPr/>
        </p:nvSpPr>
        <p:spPr>
          <a:xfrm>
            <a:off x="594360" y="4398264"/>
            <a:ext cx="11000232" cy="0"/>
          </a:xfrm>
          <a:prstGeom prst="line">
            <a:avLst/>
          </a:prstGeom>
          <a:noFill/>
          <a:ln w="12700">
            <a:solidFill>
              <a:srgbClr val="DFD9CE"/>
            </a:solidFill>
            <a:prstDash val="solid"/>
          </a:ln>
        </p:spPr>
      </p:sp>
      <p:sp>
        <p:nvSpPr>
          <p:cNvPr id="12" name="Text 10"/>
          <p:cNvSpPr txBox="1"/>
          <p:nvPr/>
        </p:nvSpPr>
        <p:spPr>
          <a:xfrm>
            <a:off x="594360" y="4526280"/>
            <a:ext cx="3931920" cy="640080"/>
          </a:xfrm>
          <a:prstGeom prst="rect">
            <a:avLst/>
          </a:prstGeom>
          <a:noFill/>
          <a:ln/>
        </p:spPr>
        <p:txBody>
          <a:bodyPr wrap="square" lIns="0" tIns="0" rIns="0" bIns="0" rtlCol="0" anchor="ctr"/>
          <a:lstStyle/>
          <a:p>
            <a:pPr indent="0" marL="0">
              <a:lnSpc>
                <a:spcPts val="2100"/>
              </a:lnSpc>
              <a:buNone/>
            </a:pPr>
            <a:r>
              <a:rPr lang="en-US" sz="1500" b="1" dirty="0">
                <a:solidFill>
                  <a:srgbClr val="1C1A17"/>
                </a:solidFill>
                <a:latin typeface="Calibri" pitchFamily="34" charset="0"/>
                <a:ea typeface="Calibri" pitchFamily="34" charset="-122"/>
                <a:cs typeface="Calibri" pitchFamily="34" charset="-120"/>
              </a:rPr>
              <a:t>Three languages, not a hundred</a:t>
            </a:r>
            <a:endParaRPr lang="en-US" sz="1500" dirty="0"/>
          </a:p>
        </p:txBody>
      </p:sp>
      <p:sp>
        <p:nvSpPr>
          <p:cNvPr id="13" name="Text 11"/>
          <p:cNvSpPr txBox="1"/>
          <p:nvPr/>
        </p:nvSpPr>
        <p:spPr>
          <a:xfrm>
            <a:off x="4709160" y="4489704"/>
            <a:ext cx="6858000" cy="777240"/>
          </a:xfrm>
          <a:prstGeom prst="rect">
            <a:avLst/>
          </a:prstGeom>
          <a:noFill/>
          <a:ln/>
        </p:spPr>
        <p:txBody>
          <a:bodyPr wrap="square" lIns="0" tIns="0" rIns="0" bIns="0" rtlCol="0" anchor="ctr"/>
          <a:lstStyle/>
          <a:p>
            <a:pPr indent="0" marL="0">
              <a:lnSpc>
                <a:spcPts val="2000"/>
              </a:lnSpc>
              <a:buNone/>
            </a:pPr>
            <a:r>
              <a:rPr lang="en-US" sz="1350" dirty="0">
                <a:solidFill>
                  <a:srgbClr val="3D3832"/>
                </a:solidFill>
                <a:latin typeface="Calibri" pitchFamily="34" charset="0"/>
                <a:ea typeface="Calibri" pitchFamily="34" charset="-122"/>
                <a:cs typeface="Calibri" pitchFamily="34" charset="-120"/>
              </a:rPr>
              <a:t>Korean, French and English are read by rule. A fourth language is a small table, not a retrained model.</a:t>
            </a:r>
            <a:endParaRPr lang="en-US" sz="1350" dirty="0"/>
          </a:p>
        </p:txBody>
      </p:sp>
      <p:sp>
        <p:nvSpPr>
          <p:cNvPr id="14" name="Shape 12"/>
          <p:cNvSpPr/>
          <p:nvPr/>
        </p:nvSpPr>
        <p:spPr>
          <a:xfrm>
            <a:off x="594360" y="5330952"/>
            <a:ext cx="11000232" cy="0"/>
          </a:xfrm>
          <a:prstGeom prst="line">
            <a:avLst/>
          </a:prstGeom>
          <a:noFill/>
          <a:ln w="12700">
            <a:solidFill>
              <a:srgbClr val="DFD9CE"/>
            </a:solidFill>
            <a:prstDash val="solid"/>
          </a:ln>
        </p:spPr>
      </p:sp>
      <p:sp>
        <p:nvSpPr>
          <p:cNvPr id="15" name="Text 13"/>
          <p:cNvSpPr txBox="1"/>
          <p:nvPr/>
        </p:nvSpPr>
        <p:spPr>
          <a:xfrm>
            <a:off x="594360" y="5458968"/>
            <a:ext cx="3931920" cy="640080"/>
          </a:xfrm>
          <a:prstGeom prst="rect">
            <a:avLst/>
          </a:prstGeom>
          <a:noFill/>
          <a:ln/>
        </p:spPr>
        <p:txBody>
          <a:bodyPr wrap="square" lIns="0" tIns="0" rIns="0" bIns="0" rtlCol="0" anchor="ctr"/>
          <a:lstStyle/>
          <a:p>
            <a:pPr indent="0" marL="0">
              <a:lnSpc>
                <a:spcPts val="2100"/>
              </a:lnSpc>
              <a:buNone/>
            </a:pPr>
            <a:r>
              <a:rPr lang="en-US" sz="1500" b="1" dirty="0">
                <a:solidFill>
                  <a:srgbClr val="1C1A17"/>
                </a:solidFill>
                <a:latin typeface="Calibri" pitchFamily="34" charset="0"/>
                <a:ea typeface="Calibri" pitchFamily="34" charset="-122"/>
                <a:cs typeface="Calibri" pitchFamily="34" charset="-120"/>
              </a:rPr>
              <a:t>No booking is final without a person</a:t>
            </a:r>
            <a:endParaRPr lang="en-US" sz="1500" dirty="0"/>
          </a:p>
        </p:txBody>
      </p:sp>
      <p:sp>
        <p:nvSpPr>
          <p:cNvPr id="16" name="Text 14"/>
          <p:cNvSpPr txBox="1"/>
          <p:nvPr/>
        </p:nvSpPr>
        <p:spPr>
          <a:xfrm>
            <a:off x="4709160" y="5422392"/>
            <a:ext cx="6858000" cy="777240"/>
          </a:xfrm>
          <a:prstGeom prst="rect">
            <a:avLst/>
          </a:prstGeom>
          <a:noFill/>
          <a:ln/>
        </p:spPr>
        <p:txBody>
          <a:bodyPr wrap="square" lIns="0" tIns="0" rIns="0" bIns="0" rtlCol="0" anchor="ctr"/>
          <a:lstStyle/>
          <a:p>
            <a:pPr indent="0" marL="0">
              <a:lnSpc>
                <a:spcPts val="2000"/>
              </a:lnSpc>
              <a:buNone/>
            </a:pPr>
            <a:r>
              <a:rPr lang="en-US" sz="1350" dirty="0">
                <a:solidFill>
                  <a:srgbClr val="3D3832"/>
                </a:solidFill>
                <a:latin typeface="Calibri" pitchFamily="34" charset="0"/>
                <a:ea typeface="Calibri" pitchFamily="34" charset="-122"/>
                <a:cs typeface="Calibri" pitchFamily="34" charset="-120"/>
              </a:rPr>
              <a:t>The model can be wrong, so the host is the check. That is slower than confirming automatically, and it is the only version worth putting in front of a real guesthouse.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A17"/>
        </a:solidFill>
      </p:bgPr>
    </p:bg>
    <p:spTree>
      <p:nvGrpSpPr>
        <p:cNvPr id="1" name=""/>
        <p:cNvGrpSpPr/>
        <p:nvPr/>
      </p:nvGrpSpPr>
      <p:grpSpPr>
        <a:xfrm>
          <a:off x="0" y="0"/>
          <a:ext cx="0" cy="0"/>
          <a:chOff x="0" y="0"/>
          <a:chExt cx="0" cy="0"/>
        </a:xfrm>
      </p:grpSpPr>
      <p:sp>
        <p:nvSpPr>
          <p:cNvPr id="2" name="Text 0"/>
          <p:cNvSpPr txBox="1"/>
          <p:nvPr/>
        </p:nvSpPr>
        <p:spPr>
          <a:xfrm>
            <a:off x="594360" y="1188720"/>
            <a:ext cx="11000232" cy="274320"/>
          </a:xfrm>
          <a:prstGeom prst="rect">
            <a:avLst/>
          </a:prstGeom>
          <a:noFill/>
          <a:ln/>
        </p:spPr>
        <p:txBody>
          <a:bodyPr wrap="square" lIns="0" tIns="0" rIns="0" bIns="0" rtlCol="0" anchor="ctr"/>
          <a:lstStyle/>
          <a:p>
            <a:pPr indent="0" marL="0">
              <a:buNone/>
            </a:pPr>
            <a:r>
              <a:rPr lang="en-US" sz="1200" b="1" spc="200" kern="0" dirty="0">
                <a:solidFill>
                  <a:srgbClr val="8FBFAF"/>
                </a:solidFill>
                <a:latin typeface="Calibri" pitchFamily="34" charset="0"/>
                <a:ea typeface="Calibri" pitchFamily="34" charset="-122"/>
                <a:cs typeface="Calibri" pitchFamily="34" charset="-120"/>
              </a:rPr>
              <a:t>BOTH DIRECTIONS ALREADY WORK</a:t>
            </a:r>
            <a:endParaRPr lang="en-US" sz="1200" dirty="0"/>
          </a:p>
        </p:txBody>
      </p:sp>
      <p:sp>
        <p:nvSpPr>
          <p:cNvPr id="3" name="Text 1"/>
          <p:cNvSpPr txBox="1"/>
          <p:nvPr/>
        </p:nvSpPr>
        <p:spPr>
          <a:xfrm>
            <a:off x="594360" y="1600200"/>
            <a:ext cx="10515600" cy="1463040"/>
          </a:xfrm>
          <a:prstGeom prst="rect">
            <a:avLst/>
          </a:prstGeom>
          <a:noFill/>
          <a:ln/>
        </p:spPr>
        <p:txBody>
          <a:bodyPr wrap="square" lIns="0" tIns="0" rIns="0" bIns="0" rtlCol="0" anchor="ctr"/>
          <a:lstStyle/>
          <a:p>
            <a:pPr indent="0" marL="0">
              <a:lnSpc>
                <a:spcPts val="4600"/>
              </a:lnSpc>
              <a:buNone/>
            </a:pPr>
            <a:r>
              <a:rPr lang="en-US" sz="3600" b="1" dirty="0">
                <a:solidFill>
                  <a:srgbClr val="FFFFFF"/>
                </a:solidFill>
                <a:latin typeface="Cambria" pitchFamily="34" charset="0"/>
                <a:ea typeface="Cambria" pitchFamily="34" charset="-122"/>
                <a:cs typeface="Cambria" pitchFamily="34" charset="-120"/>
              </a:rPr>
              <a:t>A Korean message went in and a French text message came back out, over a real network.</a:t>
            </a:r>
            <a:endParaRPr lang="en-US" sz="3600" dirty="0"/>
          </a:p>
        </p:txBody>
      </p:sp>
      <p:sp>
        <p:nvSpPr>
          <p:cNvPr id="4" name="Shape 2"/>
          <p:cNvSpPr/>
          <p:nvPr/>
        </p:nvSpPr>
        <p:spPr>
          <a:xfrm>
            <a:off x="594360" y="3520440"/>
            <a:ext cx="3328416" cy="1691640"/>
          </a:xfrm>
          <a:prstGeom prst="roundRect">
            <a:avLst>
              <a:gd name="adj" fmla="val 6486"/>
            </a:avLst>
          </a:prstGeom>
          <a:solidFill>
            <a:srgbClr val="2A2622"/>
          </a:solidFill>
          <a:ln w="12700">
            <a:solidFill>
              <a:srgbClr val="3D3832"/>
            </a:solidFill>
            <a:prstDash val="solid"/>
          </a:ln>
        </p:spPr>
      </p:sp>
      <p:sp>
        <p:nvSpPr>
          <p:cNvPr id="5" name="Text 3"/>
          <p:cNvSpPr txBox="1"/>
          <p:nvPr/>
        </p:nvSpPr>
        <p:spPr>
          <a:xfrm>
            <a:off x="868680" y="3749040"/>
            <a:ext cx="2779776"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we want</a:t>
            </a:r>
            <a:endParaRPr lang="en-US" sz="1500" dirty="0"/>
          </a:p>
        </p:txBody>
      </p:sp>
      <p:sp>
        <p:nvSpPr>
          <p:cNvPr id="6" name="Text 4"/>
          <p:cNvSpPr txBox="1"/>
          <p:nvPr/>
        </p:nvSpPr>
        <p:spPr>
          <a:xfrm>
            <a:off x="868680" y="4133088"/>
            <a:ext cx="2779776" cy="914400"/>
          </a:xfrm>
          <a:prstGeom prst="rect">
            <a:avLst/>
          </a:prstGeom>
          <a:noFill/>
          <a:ln/>
        </p:spPr>
        <p:txBody>
          <a:bodyPr wrap="square" lIns="0" tIns="0" rIns="0" bIns="0" rtlCol="0" anchor="ctr"/>
          <a:lstStyle/>
          <a:p>
            <a:pPr indent="0" marL="0">
              <a:lnSpc>
                <a:spcPts val="2000"/>
              </a:lnSpc>
              <a:buNone/>
            </a:pPr>
            <a:r>
              <a:rPr lang="en-US" sz="1350" dirty="0">
                <a:solidFill>
                  <a:srgbClr val="B9B2A6"/>
                </a:solidFill>
                <a:latin typeface="Calibri" pitchFamily="34" charset="0"/>
                <a:ea typeface="Calibri" pitchFamily="34" charset="-122"/>
                <a:cs typeface="Calibri" pitchFamily="34" charset="-120"/>
              </a:rPr>
              <a:t>One tourism office and ten hosts, for one season.</a:t>
            </a:r>
            <a:endParaRPr lang="en-US" sz="1350" dirty="0"/>
          </a:p>
        </p:txBody>
      </p:sp>
      <p:sp>
        <p:nvSpPr>
          <p:cNvPr id="7" name="Shape 5"/>
          <p:cNvSpPr/>
          <p:nvPr/>
        </p:nvSpPr>
        <p:spPr>
          <a:xfrm>
            <a:off x="4430268" y="3520440"/>
            <a:ext cx="3328416" cy="1691640"/>
          </a:xfrm>
          <a:prstGeom prst="roundRect">
            <a:avLst>
              <a:gd name="adj" fmla="val 6486"/>
            </a:avLst>
          </a:prstGeom>
          <a:solidFill>
            <a:srgbClr val="2A2622"/>
          </a:solidFill>
          <a:ln w="12700">
            <a:solidFill>
              <a:srgbClr val="3D3832"/>
            </a:solidFill>
            <a:prstDash val="solid"/>
          </a:ln>
        </p:spPr>
      </p:sp>
      <p:sp>
        <p:nvSpPr>
          <p:cNvPr id="8" name="Text 6"/>
          <p:cNvSpPr txBox="1"/>
          <p:nvPr/>
        </p:nvSpPr>
        <p:spPr>
          <a:xfrm>
            <a:off x="4704588" y="3749040"/>
            <a:ext cx="2779776"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it costs them</a:t>
            </a:r>
            <a:endParaRPr lang="en-US" sz="1500" dirty="0"/>
          </a:p>
        </p:txBody>
      </p:sp>
      <p:sp>
        <p:nvSpPr>
          <p:cNvPr id="9" name="Text 7"/>
          <p:cNvSpPr txBox="1"/>
          <p:nvPr/>
        </p:nvSpPr>
        <p:spPr>
          <a:xfrm>
            <a:off x="4704588" y="4133088"/>
            <a:ext cx="2779776" cy="914400"/>
          </a:xfrm>
          <a:prstGeom prst="rect">
            <a:avLst/>
          </a:prstGeom>
          <a:noFill/>
          <a:ln/>
        </p:spPr>
        <p:txBody>
          <a:bodyPr wrap="square" lIns="0" tIns="0" rIns="0" bIns="0" rtlCol="0" anchor="ctr"/>
          <a:lstStyle/>
          <a:p>
            <a:pPr indent="0" marL="0">
              <a:lnSpc>
                <a:spcPts val="2000"/>
              </a:lnSpc>
              <a:buNone/>
            </a:pPr>
            <a:r>
              <a:rPr lang="en-US" sz="1350" dirty="0">
                <a:solidFill>
                  <a:srgbClr val="B9B2A6"/>
                </a:solidFill>
                <a:latin typeface="Calibri" pitchFamily="34" charset="0"/>
                <a:ea typeface="Calibri" pitchFamily="34" charset="-122"/>
                <a:cs typeface="Calibri" pitchFamily="34" charset="-120"/>
              </a:rPr>
              <a:t>One hub of about 80 USD, and eight cents a booking.</a:t>
            </a:r>
            <a:endParaRPr lang="en-US" sz="1350" dirty="0"/>
          </a:p>
        </p:txBody>
      </p:sp>
      <p:sp>
        <p:nvSpPr>
          <p:cNvPr id="10" name="Shape 8"/>
          <p:cNvSpPr/>
          <p:nvPr/>
        </p:nvSpPr>
        <p:spPr>
          <a:xfrm>
            <a:off x="8266176" y="3520440"/>
            <a:ext cx="3328416" cy="1691640"/>
          </a:xfrm>
          <a:prstGeom prst="roundRect">
            <a:avLst>
              <a:gd name="adj" fmla="val 6486"/>
            </a:avLst>
          </a:prstGeom>
          <a:solidFill>
            <a:srgbClr val="2A2622"/>
          </a:solidFill>
          <a:ln w="12700">
            <a:solidFill>
              <a:srgbClr val="3D3832"/>
            </a:solidFill>
            <a:prstDash val="solid"/>
          </a:ln>
        </p:spPr>
      </p:sp>
      <p:sp>
        <p:nvSpPr>
          <p:cNvPr id="11" name="Text 9"/>
          <p:cNvSpPr txBox="1"/>
          <p:nvPr/>
        </p:nvSpPr>
        <p:spPr>
          <a:xfrm>
            <a:off x="8540496" y="3749040"/>
            <a:ext cx="2779776"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we measure</a:t>
            </a:r>
            <a:endParaRPr lang="en-US" sz="1500" dirty="0"/>
          </a:p>
        </p:txBody>
      </p:sp>
      <p:sp>
        <p:nvSpPr>
          <p:cNvPr id="12" name="Text 10"/>
          <p:cNvSpPr txBox="1"/>
          <p:nvPr/>
        </p:nvSpPr>
        <p:spPr>
          <a:xfrm>
            <a:off x="8540496" y="4133088"/>
            <a:ext cx="2779776" cy="914400"/>
          </a:xfrm>
          <a:prstGeom prst="rect">
            <a:avLst/>
          </a:prstGeom>
          <a:noFill/>
          <a:ln/>
        </p:spPr>
        <p:txBody>
          <a:bodyPr wrap="square" lIns="0" tIns="0" rIns="0" bIns="0" rtlCol="0" anchor="ctr"/>
          <a:lstStyle/>
          <a:p>
            <a:pPr indent="0" marL="0">
              <a:lnSpc>
                <a:spcPts val="2000"/>
              </a:lnSpc>
              <a:buNone/>
            </a:pPr>
            <a:r>
              <a:rPr lang="en-US" sz="1350" dirty="0">
                <a:solidFill>
                  <a:srgbClr val="B9B2A6"/>
                </a:solidFill>
                <a:latin typeface="Calibri" pitchFamily="34" charset="0"/>
                <a:ea typeface="Calibri" pitchFamily="34" charset="-122"/>
                <a:cs typeface="Calibri" pitchFamily="34" charset="-120"/>
              </a:rPr>
              <a:t>Bookings that reach the host, and money that stays in the village.</a:t>
            </a:r>
            <a:endParaRPr lang="en-US" sz="1350" dirty="0"/>
          </a:p>
        </p:txBody>
      </p:sp>
      <p:sp>
        <p:nvSpPr>
          <p:cNvPr id="13" name="Text 11"/>
          <p:cNvSpPr txBox="1"/>
          <p:nvPr/>
        </p:nvSpPr>
        <p:spPr>
          <a:xfrm>
            <a:off x="594360" y="6035040"/>
            <a:ext cx="11000232" cy="274320"/>
          </a:xfrm>
          <a:prstGeom prst="rect">
            <a:avLst/>
          </a:prstGeom>
          <a:noFill/>
          <a:ln/>
        </p:spPr>
        <p:txBody>
          <a:bodyPr wrap="square" lIns="0" tIns="0" rIns="0" bIns="0" rtlCol="0" anchor="ctr"/>
          <a:lstStyle/>
          <a:p>
            <a:pPr indent="0" marL="0">
              <a:buNone/>
            </a:pPr>
            <a:r>
              <a:rPr lang="en-US" sz="1100" dirty="0">
                <a:solidFill>
                  <a:srgbClr val="B9B2A6"/>
                </a:solidFill>
                <a:latin typeface="Calibri" pitchFamily="34" charset="0"/>
                <a:ea typeface="Calibri" pitchFamily="34" charset="-122"/>
                <a:cs typeface="Calibri" pitchFamily="34" charset="-120"/>
              </a:rPr>
              <a:t>Team LeKontinent   ·   github.com/nguefackuriel/karibu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Karibu</dc:title>
  <dc:subject>PptxGenJS Presentation</dc:subject>
  <dc:creator>Team LeKontinent</dc:creator>
  <cp:lastModifiedBy>Team LeKontinent</cp:lastModifiedBy>
  <cp:revision>1</cp:revision>
  <dcterms:created xsi:type="dcterms:W3CDTF">2026-09-28T23:52:46Z</dcterms:created>
  <dcterms:modified xsi:type="dcterms:W3CDTF">2026-09-28T23:52:46Z</dcterms:modified>
</cp:coreProperties>
</file>